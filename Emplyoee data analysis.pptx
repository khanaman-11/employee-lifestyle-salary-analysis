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2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Barlow" panose="020B0604020202020204" charset="0"/>
      <p:regular r:id="rId16"/>
      <p:bold r:id="rId17"/>
      <p:italic r:id="rId18"/>
      <p:boldItalic r:id="rId19"/>
    </p:embeddedFont>
    <p:embeddedFont>
      <p:font typeface="Segoe UI Black" panose="020B0A02040204020203" pitchFamily="34" charset="0"/>
      <p:bold r:id="rId20"/>
      <p:boldItalic r:id="rId21"/>
    </p:embeddedFont>
    <p:embeddedFont>
      <p:font typeface="Poppins ExtraBold" panose="020B0604020202020204" charset="0"/>
      <p:bold r:id="rId22"/>
      <p:boldItalic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  <p:embeddedFont>
      <p:font typeface="Raleway" panose="020B0604020202020204" charset="0"/>
      <p:regular r:id="rId28"/>
      <p:bold r:id="rId29"/>
      <p:italic r:id="rId30"/>
      <p:boldItalic r:id="rId31"/>
    </p:embeddedFont>
    <p:embeddedFont>
      <p:font typeface="Poppins Black" panose="020B0604020202020204" charset="0"/>
      <p:bold r:id="rId32"/>
      <p:boldItalic r:id="rId33"/>
    </p:embeddedFont>
    <p:embeddedFont>
      <p:font typeface="Anaheim" panose="020B0604020202020204" charset="0"/>
      <p:regular r:id="rId34"/>
      <p:bold r:id="rId35"/>
    </p:embeddedFont>
    <p:embeddedFont>
      <p:font typeface="Poppins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4C0A00-31F5-4E27-97B8-D28F0E91951F}">
  <a:tblStyle styleId="{F84C0A00-31F5-4E27-97B8-D28F0E9195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CED90C-E094-47DA-9CAA-F200E2CBF2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420" y="-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67365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7712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3118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206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7049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3419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5904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4035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92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8553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1170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188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0718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5914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subTitle" idx="1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7"/>
          <p:cNvSpPr>
            <a:spLocks noGrp="1"/>
          </p:cNvSpPr>
          <p:nvPr>
            <p:ph type="pic" idx="2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" name="Google Shape;117;p7"/>
          <p:cNvSpPr/>
          <p:nvPr/>
        </p:nvSpPr>
        <p:spPr>
          <a:xfrm rot="10800000" flipH="1">
            <a:off x="-1594613" y="-603810"/>
            <a:ext cx="3247250" cy="169871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40;p8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avLst/>
                <a:gdLst/>
                <a:ahLst/>
                <a:cxnLst/>
                <a:rect l="l" t="t" r="r" b="b"/>
                <a:pathLst>
                  <a:path w="22325" h="4203" extrusionOk="0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51;p8"/>
            <p:cNvSpPr/>
            <p:nvPr/>
          </p:nvSpPr>
          <p:spPr>
            <a:xfrm rot="10800000" flipH="1">
              <a:off x="-1320285" y="-22921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50" h="5994" extrusionOk="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0" name="Google Shape;190;p9"/>
            <p:cNvSpPr/>
            <p:nvPr/>
          </p:nvSpPr>
          <p:spPr>
            <a:xfrm>
              <a:off x="-10" y="4520307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3" name="Google Shape;193;p9"/>
          <p:cNvSpPr txBox="1">
            <a:spLocks noGrp="1"/>
          </p:cNvSpPr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ubTitle" idx="1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196" name="Google Shape;196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98;p9"/>
            <p:cNvSpPr/>
            <p:nvPr/>
          </p:nvSpPr>
          <p:spPr>
            <a:xfrm rot="10800000" flipH="1">
              <a:off x="-427494" y="8097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1" name="Google Shape;201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02" name="Google Shape;202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rot="10800000" flipH="1">
              <a:off x="7861425" y="-9594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205;p9"/>
            <p:cNvSpPr/>
            <p:nvPr/>
          </p:nvSpPr>
          <p:spPr>
            <a:xfrm rot="10800000" flipH="1">
              <a:off x="-591414" y="-217566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06" name="Google Shape;206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36" name="Google Shape;236;p13"/>
          <p:cNvSpPr txBox="1">
            <a:spLocks noGrp="1"/>
          </p:cNvSpPr>
          <p:nvPr>
            <p:ph type="subTitle" idx="1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2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3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4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5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6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252" name="Google Shape;25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7" hasCustomPrompt="1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 idx="8" hasCustomPrompt="1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 idx="9" hasCustomPrompt="1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>
            <a:spLocks noGrp="1"/>
          </p:cNvSpPr>
          <p:nvPr>
            <p:ph type="title" idx="13" hasCustomPrompt="1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 idx="14" hasCustomPrompt="1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15" hasCustomPrompt="1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63" name="Google Shape;263;p14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264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265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67" name="Google Shape;267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268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70" name="Google Shape;270;p14"/>
            <p:cNvSpPr/>
            <p:nvPr/>
          </p:nvSpPr>
          <p:spPr>
            <a:xfrm>
              <a:off x="8526706" y="447742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-641180" y="452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73" name="Google Shape;273;p14"/>
          <p:cNvSpPr txBox="1">
            <a:spLocks noGrp="1"/>
          </p:cNvSpPr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74" name="Google Shape;274;p14"/>
          <p:cNvSpPr txBox="1">
            <a:spLocks noGrp="1"/>
          </p:cNvSpPr>
          <p:nvPr>
            <p:ph type="subTitle" idx="1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75" name="Google Shape;275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76" name="Google Shape;276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-3" y="4753508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924913" y="46040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12" name="Google Shape;412;p20"/>
            <p:cNvSpPr/>
            <p:nvPr/>
          </p:nvSpPr>
          <p:spPr>
            <a:xfrm>
              <a:off x="-706235" y="460401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" name="Google Shape;413;p20"/>
            <p:cNvSpPr/>
            <p:nvPr/>
          </p:nvSpPr>
          <p:spPr>
            <a:xfrm rot="10800000" flipH="1">
              <a:off x="-201825" y="-1528931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14" name="Google Shape;414;p20"/>
          <p:cNvSpPr/>
          <p:nvPr/>
        </p:nvSpPr>
        <p:spPr>
          <a:xfrm>
            <a:off x="-1021725" y="3983847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5" name="Google Shape;415;p20"/>
          <p:cNvSpPr/>
          <p:nvPr/>
        </p:nvSpPr>
        <p:spPr>
          <a:xfrm flipH="1">
            <a:off x="-828950" y="4250853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17" name="Google Shape;417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9" name="Google Shape;419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21" name="Google Shape;421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2" name="Google Shape;422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23" name="Google Shape;423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24" name="Google Shape;424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27" name="Google Shape;427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8" name="Google Shape;428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429" name="Google Shape;42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20"/>
          <p:cNvSpPr txBox="1">
            <a:spLocks noGrp="1"/>
          </p:cNvSpPr>
          <p:nvPr>
            <p:ph type="subTitle" idx="1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20"/>
          <p:cNvSpPr txBox="1">
            <a:spLocks noGrp="1"/>
          </p:cNvSpPr>
          <p:nvPr>
            <p:ph type="subTitle" idx="2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20"/>
          <p:cNvSpPr txBox="1">
            <a:spLocks noGrp="1"/>
          </p:cNvSpPr>
          <p:nvPr>
            <p:ph type="subTitle" idx="3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33" name="Google Shape;433;p20"/>
          <p:cNvSpPr txBox="1">
            <a:spLocks noGrp="1"/>
          </p:cNvSpPr>
          <p:nvPr>
            <p:ph type="subTitle" idx="4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61" name="Google Shape;461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" name="Google Shape;462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" name="Google Shape;463;p22"/>
            <p:cNvSpPr/>
            <p:nvPr/>
          </p:nvSpPr>
          <p:spPr>
            <a:xfrm rot="10800000" flipH="1">
              <a:off x="-1123779" y="-1437185"/>
              <a:ext cx="3115510" cy="1837815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64" name="Google Shape;46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2"/>
          <p:cNvSpPr txBox="1">
            <a:spLocks noGrp="1"/>
          </p:cNvSpPr>
          <p:nvPr>
            <p:ph type="subTitle" idx="1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2"/>
          <p:cNvSpPr txBox="1">
            <a:spLocks noGrp="1"/>
          </p:cNvSpPr>
          <p:nvPr>
            <p:ph type="subTitle" idx="2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22"/>
          <p:cNvSpPr txBox="1">
            <a:spLocks noGrp="1"/>
          </p:cNvSpPr>
          <p:nvPr>
            <p:ph type="subTitle" idx="3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2"/>
          <p:cNvSpPr txBox="1">
            <a:spLocks noGrp="1"/>
          </p:cNvSpPr>
          <p:nvPr>
            <p:ph type="subTitle" idx="4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69" name="Google Shape;469;p22"/>
          <p:cNvSpPr txBox="1">
            <a:spLocks noGrp="1"/>
          </p:cNvSpPr>
          <p:nvPr>
            <p:ph type="subTitle" idx="5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70" name="Google Shape;470;p22"/>
          <p:cNvSpPr txBox="1">
            <a:spLocks noGrp="1"/>
          </p:cNvSpPr>
          <p:nvPr>
            <p:ph type="subTitle" idx="6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471" name="Google Shape;471;p22"/>
          <p:cNvGrpSpPr/>
          <p:nvPr/>
        </p:nvGrpSpPr>
        <p:grpSpPr>
          <a:xfrm rot="10800000" flipH="1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72" name="Google Shape;472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73" name="Google Shape;473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4" name="Google Shape;474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75" name="Google Shape;475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7" name="Google Shape;477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0" name="Google Shape;480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484" name="Google Shape;484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485" name="Google Shape;485;p22"/>
            <p:cNvSpPr/>
            <p:nvPr/>
          </p:nvSpPr>
          <p:spPr>
            <a:xfrm rot="10800000" flipH="1">
              <a:off x="-592558" y="-10342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22"/>
            <p:cNvSpPr/>
            <p:nvPr/>
          </p:nvSpPr>
          <p:spPr>
            <a:xfrm rot="10800000" flipH="1">
              <a:off x="5882231" y="4965151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87" name="Google Shape;487;p22"/>
          <p:cNvSpPr/>
          <p:nvPr/>
        </p:nvSpPr>
        <p:spPr>
          <a:xfrm flipH="1">
            <a:off x="6761059" y="4250475"/>
            <a:ext cx="3573015" cy="1869125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23"/>
          <p:cNvSpPr txBox="1">
            <a:spLocks noGrp="1"/>
          </p:cNvSpPr>
          <p:nvPr>
            <p:ph type="subTitle" idx="1"/>
          </p:nvPr>
        </p:nvSpPr>
        <p:spPr>
          <a:xfrm>
            <a:off x="1689126" y="17606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23"/>
          <p:cNvSpPr txBox="1">
            <a:spLocks noGrp="1"/>
          </p:cNvSpPr>
          <p:nvPr>
            <p:ph type="subTitle" idx="2"/>
          </p:nvPr>
        </p:nvSpPr>
        <p:spPr>
          <a:xfrm>
            <a:off x="5210878" y="17606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23"/>
          <p:cNvSpPr txBox="1">
            <a:spLocks noGrp="1"/>
          </p:cNvSpPr>
          <p:nvPr>
            <p:ph type="subTitle" idx="3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23"/>
          <p:cNvSpPr txBox="1">
            <a:spLocks noGrp="1"/>
          </p:cNvSpPr>
          <p:nvPr>
            <p:ph type="subTitle" idx="4"/>
          </p:nvPr>
        </p:nvSpPr>
        <p:spPr>
          <a:xfrm>
            <a:off x="5210878" y="3345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23"/>
          <p:cNvSpPr txBox="1">
            <a:spLocks noGrp="1"/>
          </p:cNvSpPr>
          <p:nvPr>
            <p:ph type="subTitle" idx="5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95" name="Google Shape;495;p23"/>
          <p:cNvSpPr txBox="1">
            <a:spLocks noGrp="1"/>
          </p:cNvSpPr>
          <p:nvPr>
            <p:ph type="subTitle" idx="6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96" name="Google Shape;496;p23"/>
          <p:cNvSpPr txBox="1">
            <a:spLocks noGrp="1"/>
          </p:cNvSpPr>
          <p:nvPr>
            <p:ph type="subTitle" idx="7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97" name="Google Shape;497;p23"/>
          <p:cNvSpPr txBox="1">
            <a:spLocks noGrp="1"/>
          </p:cNvSpPr>
          <p:nvPr>
            <p:ph type="subTitle" idx="8"/>
          </p:nvPr>
        </p:nvSpPr>
        <p:spPr>
          <a:xfrm>
            <a:off x="5210851" y="30400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498" name="Google Shape;498;p23"/>
          <p:cNvGrpSpPr/>
          <p:nvPr/>
        </p:nvGrpSpPr>
        <p:grpSpPr>
          <a:xfrm>
            <a:off x="-1014025" y="-964868"/>
            <a:ext cx="10158024" cy="7826893"/>
            <a:chOff x="-1014025" y="-964868"/>
            <a:chExt cx="10158024" cy="7826893"/>
          </a:xfrm>
        </p:grpSpPr>
        <p:sp>
          <p:nvSpPr>
            <p:cNvPr id="499" name="Google Shape;499;p23"/>
            <p:cNvSpPr/>
            <p:nvPr/>
          </p:nvSpPr>
          <p:spPr>
            <a:xfrm rot="10800000">
              <a:off x="-1014025" y="-96486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-213475" y="4974994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01" name="Google Shape;501;p23"/>
          <p:cNvGrpSpPr/>
          <p:nvPr/>
        </p:nvGrpSpPr>
        <p:grpSpPr>
          <a:xfrm flipH="1">
            <a:off x="-2799911" y="4184068"/>
            <a:ext cx="3894036" cy="692436"/>
            <a:chOff x="5477439" y="1590790"/>
            <a:chExt cx="3894036" cy="692436"/>
          </a:xfrm>
        </p:grpSpPr>
        <p:grpSp>
          <p:nvGrpSpPr>
            <p:cNvPr id="502" name="Google Shape;502;p23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4" name="Google Shape;504;p2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05" name="Google Shape;505;p23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06" name="Google Shape;506;p23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7" name="Google Shape;507;p23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08" name="Google Shape;508;p2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09" name="Google Shape;509;p2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10" name="Google Shape;510;p2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12" name="Google Shape;512;p23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13" name="Google Shape;513;p23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514" name="Google Shape;514;p23"/>
          <p:cNvSpPr/>
          <p:nvPr/>
        </p:nvSpPr>
        <p:spPr>
          <a:xfrm rot="10800000" flipH="1">
            <a:off x="7721650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15" name="Google Shape;515;p23"/>
          <p:cNvGrpSpPr/>
          <p:nvPr/>
        </p:nvGrpSpPr>
        <p:grpSpPr>
          <a:xfrm>
            <a:off x="-2689610" y="-2478031"/>
            <a:ext cx="13399307" cy="8256735"/>
            <a:chOff x="-2689610" y="-2478031"/>
            <a:chExt cx="13399307" cy="8256735"/>
          </a:xfrm>
        </p:grpSpPr>
        <p:sp>
          <p:nvSpPr>
            <p:cNvPr id="516" name="Google Shape;516;p23"/>
            <p:cNvSpPr/>
            <p:nvPr/>
          </p:nvSpPr>
          <p:spPr>
            <a:xfrm rot="10800000" flipH="1">
              <a:off x="-2689610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7904425" y="424129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4"/>
          <p:cNvSpPr txBox="1">
            <a:spLocks noGrp="1"/>
          </p:cNvSpPr>
          <p:nvPr>
            <p:ph type="subTitle" idx="1"/>
          </p:nvPr>
        </p:nvSpPr>
        <p:spPr>
          <a:xfrm>
            <a:off x="720000" y="1955324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24"/>
          <p:cNvSpPr txBox="1">
            <a:spLocks noGrp="1"/>
          </p:cNvSpPr>
          <p:nvPr>
            <p:ph type="subTitle" idx="2"/>
          </p:nvPr>
        </p:nvSpPr>
        <p:spPr>
          <a:xfrm>
            <a:off x="3392266" y="1955324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24"/>
          <p:cNvSpPr txBox="1">
            <a:spLocks noGrp="1"/>
          </p:cNvSpPr>
          <p:nvPr>
            <p:ph type="subTitle" idx="3"/>
          </p:nvPr>
        </p:nvSpPr>
        <p:spPr>
          <a:xfrm>
            <a:off x="720000" y="3833100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4"/>
          <p:cNvSpPr txBox="1">
            <a:spLocks noGrp="1"/>
          </p:cNvSpPr>
          <p:nvPr>
            <p:ph type="subTitle" idx="4"/>
          </p:nvPr>
        </p:nvSpPr>
        <p:spPr>
          <a:xfrm>
            <a:off x="3392266" y="3833100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4"/>
          <p:cNvSpPr txBox="1">
            <a:spLocks noGrp="1"/>
          </p:cNvSpPr>
          <p:nvPr>
            <p:ph type="subTitle" idx="5"/>
          </p:nvPr>
        </p:nvSpPr>
        <p:spPr>
          <a:xfrm>
            <a:off x="6064528" y="1955324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4"/>
          <p:cNvSpPr txBox="1">
            <a:spLocks noGrp="1"/>
          </p:cNvSpPr>
          <p:nvPr>
            <p:ph type="subTitle" idx="6"/>
          </p:nvPr>
        </p:nvSpPr>
        <p:spPr>
          <a:xfrm>
            <a:off x="6064528" y="3833100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4"/>
          <p:cNvSpPr txBox="1">
            <a:spLocks noGrp="1"/>
          </p:cNvSpPr>
          <p:nvPr>
            <p:ph type="subTitle" idx="7"/>
          </p:nvPr>
        </p:nvSpPr>
        <p:spPr>
          <a:xfrm>
            <a:off x="724640" y="1734325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27" name="Google Shape;527;p24"/>
          <p:cNvSpPr txBox="1">
            <a:spLocks noGrp="1"/>
          </p:cNvSpPr>
          <p:nvPr>
            <p:ph type="subTitle" idx="8"/>
          </p:nvPr>
        </p:nvSpPr>
        <p:spPr>
          <a:xfrm>
            <a:off x="3396904" y="1734325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28" name="Google Shape;528;p24"/>
          <p:cNvSpPr txBox="1">
            <a:spLocks noGrp="1"/>
          </p:cNvSpPr>
          <p:nvPr>
            <p:ph type="subTitle" idx="9"/>
          </p:nvPr>
        </p:nvSpPr>
        <p:spPr>
          <a:xfrm>
            <a:off x="6069165" y="1734325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29" name="Google Shape;529;p24"/>
          <p:cNvSpPr txBox="1">
            <a:spLocks noGrp="1"/>
          </p:cNvSpPr>
          <p:nvPr>
            <p:ph type="subTitle" idx="13"/>
          </p:nvPr>
        </p:nvSpPr>
        <p:spPr>
          <a:xfrm>
            <a:off x="724640" y="3608903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30" name="Google Shape;530;p24"/>
          <p:cNvSpPr txBox="1">
            <a:spLocks noGrp="1"/>
          </p:cNvSpPr>
          <p:nvPr>
            <p:ph type="subTitle" idx="14"/>
          </p:nvPr>
        </p:nvSpPr>
        <p:spPr>
          <a:xfrm>
            <a:off x="3396904" y="3608903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31" name="Google Shape;531;p24"/>
          <p:cNvSpPr txBox="1">
            <a:spLocks noGrp="1"/>
          </p:cNvSpPr>
          <p:nvPr>
            <p:ph type="subTitle" idx="15"/>
          </p:nvPr>
        </p:nvSpPr>
        <p:spPr>
          <a:xfrm>
            <a:off x="6069165" y="3608903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532" name="Google Shape;532;p24"/>
          <p:cNvGrpSpPr/>
          <p:nvPr/>
        </p:nvGrpSpPr>
        <p:grpSpPr>
          <a:xfrm>
            <a:off x="-1764035" y="-2478031"/>
            <a:ext cx="10908034" cy="9340057"/>
            <a:chOff x="-1764035" y="-2478031"/>
            <a:chExt cx="10908034" cy="9340057"/>
          </a:xfrm>
        </p:grpSpPr>
        <p:sp>
          <p:nvSpPr>
            <p:cNvPr id="533" name="Google Shape;533;p24"/>
            <p:cNvSpPr/>
            <p:nvPr/>
          </p:nvSpPr>
          <p:spPr>
            <a:xfrm rot="10800000" flipH="1">
              <a:off x="-1764035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-213475" y="4974994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35" name="Google Shape;535;p24"/>
          <p:cNvGrpSpPr/>
          <p:nvPr/>
        </p:nvGrpSpPr>
        <p:grpSpPr>
          <a:xfrm rot="10800000" flipH="1">
            <a:off x="8041939" y="144568"/>
            <a:ext cx="3894036" cy="692436"/>
            <a:chOff x="5477439" y="1590790"/>
            <a:chExt cx="3894036" cy="692436"/>
          </a:xfrm>
        </p:grpSpPr>
        <p:grpSp>
          <p:nvGrpSpPr>
            <p:cNvPr id="536" name="Google Shape;536;p24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37" name="Google Shape;537;p2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8" name="Google Shape;538;p2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39" name="Google Shape;539;p24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40" name="Google Shape;540;p24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1" name="Google Shape;541;p24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2" name="Google Shape;542;p24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43" name="Google Shape;543;p2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4" name="Google Shape;544;p2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46" name="Google Shape;546;p24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7" name="Google Shape;547;p24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548" name="Google Shape;548;p24"/>
          <p:cNvSpPr/>
          <p:nvPr/>
        </p:nvSpPr>
        <p:spPr>
          <a:xfrm rot="10800000">
            <a:off x="-876276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49" name="Google Shape;549;p24"/>
          <p:cNvGrpSpPr/>
          <p:nvPr/>
        </p:nvGrpSpPr>
        <p:grpSpPr>
          <a:xfrm>
            <a:off x="-1205775" y="-700418"/>
            <a:ext cx="11406422" cy="6958608"/>
            <a:chOff x="-1205775" y="-700418"/>
            <a:chExt cx="11406422" cy="6958608"/>
          </a:xfrm>
        </p:grpSpPr>
        <p:sp>
          <p:nvSpPr>
            <p:cNvPr id="550" name="Google Shape;550;p24"/>
            <p:cNvSpPr/>
            <p:nvPr/>
          </p:nvSpPr>
          <p:spPr>
            <a:xfrm rot="10800000">
              <a:off x="-1205775" y="-700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7395375" y="4720782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0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7" r:id="rId15"/>
    <p:sldLayoutId id="2147483678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i="1" dirty="0"/>
              <a:t>An Exploratory Data Analysis Using Python/Excel</a:t>
            </a:r>
            <a:endParaRPr lang="en-US" dirty="0"/>
          </a:p>
        </p:txBody>
      </p:sp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Employee Lifestyle and Salary Analysis</a:t>
            </a:r>
            <a:endParaRPr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pic>
        <p:nvPicPr>
          <p:cNvPr id="102" name="Google Shape;2181;p77"/>
          <p:cNvPicPr preferRelativeResize="0"/>
          <p:nvPr/>
        </p:nvPicPr>
        <p:blipFill rotWithShape="1">
          <a:blip r:embed="rId3">
            <a:alphaModFix/>
          </a:blip>
          <a:srcRect t="9256" b="9256"/>
          <a:stretch/>
        </p:blipFill>
        <p:spPr>
          <a:xfrm>
            <a:off x="598670" y="1812784"/>
            <a:ext cx="1372475" cy="1118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/>
              <a:t>Objective: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797" name="Google Shape;797;p37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dirty="0"/>
              <a:t>Analyze how employee habits (healthy eating &amp; active lifestyle) relate to salary and age.</a:t>
            </a:r>
          </a:p>
        </p:txBody>
      </p:sp>
      <p:sp>
        <p:nvSpPr>
          <p:cNvPr id="798" name="Google Shape;798;p37"/>
          <p:cNvSpPr txBox="1"/>
          <p:nvPr/>
        </p:nvSpPr>
        <p:spPr>
          <a:xfrm>
            <a:off x="716625" y="3824113"/>
            <a:ext cx="214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aphicFrame>
        <p:nvGraphicFramePr>
          <p:cNvPr id="800" name="Google Shape;800;p37"/>
          <p:cNvGraphicFramePr/>
          <p:nvPr>
            <p:extLst>
              <p:ext uri="{D42A27DB-BD31-4B8C-83A1-F6EECF244321}">
                <p14:modId xmlns:p14="http://schemas.microsoft.com/office/powerpoint/2010/main" val="3220218240"/>
              </p:ext>
            </p:extLst>
          </p:nvPr>
        </p:nvGraphicFramePr>
        <p:xfrm>
          <a:off x="716625" y="1934907"/>
          <a:ext cx="7557550" cy="2093825"/>
        </p:xfrm>
        <a:graphic>
          <a:graphicData uri="http://schemas.openxmlformats.org/drawingml/2006/table">
            <a:tbl>
              <a:tblPr>
                <a:noFill/>
                <a:tableStyleId>{F84C0A00-31F5-4E27-97B8-D28F0E91951F}</a:tableStyleId>
              </a:tblPr>
              <a:tblGrid>
                <a:gridCol w="2404600"/>
                <a:gridCol w="5152950"/>
              </a:tblGrid>
              <a:tr h="34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sng" strike="noStrike" cap="none" dirty="0" smtClean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Arial"/>
                        </a:rPr>
                        <a:t>id </a:t>
                      </a:r>
                      <a:endParaRPr sz="1000" b="0" i="0" u="sng" strike="noStrike" cap="none" dirty="0">
                        <a:solidFill>
                          <a:schemeClr val="hlink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Arial"/>
                        </a:rPr>
                        <a:t>Unique identifier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sng" strike="noStrike" cap="none" dirty="0" smtClean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Arial"/>
                        </a:rPr>
                        <a:t>groups</a:t>
                      </a:r>
                      <a:endParaRPr sz="1000" b="0" i="0" u="sng" strike="noStrike" cap="none" dirty="0">
                        <a:solidFill>
                          <a:schemeClr val="hlink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Blood</a:t>
                      </a:r>
                      <a:r>
                        <a:rPr lang="en-US" sz="1000" baseline="0" dirty="0" smtClean="0"/>
                        <a:t> group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sng" strike="noStrike" cap="none" dirty="0" smtClean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Arial"/>
                        </a:rPr>
                        <a:t>age</a:t>
                      </a:r>
                      <a:endParaRPr sz="1000" b="0" i="0" u="sng" strike="noStrike" cap="none" dirty="0">
                        <a:solidFill>
                          <a:schemeClr val="hlink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Age of the employee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sng" strike="noStrike" cap="none" dirty="0" smtClean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Arial"/>
                        </a:rPr>
                        <a:t>healthy_eating</a:t>
                      </a:r>
                      <a:endParaRPr sz="1000" b="0" i="0" u="sng" strike="noStrike" cap="none" dirty="0">
                        <a:solidFill>
                          <a:schemeClr val="hlink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Score from 1 to 10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sng" strike="noStrike" cap="none" dirty="0" smtClean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Arial"/>
                        </a:rPr>
                        <a:t>active_lifestyle</a:t>
                      </a:r>
                      <a:endParaRPr sz="1000" b="0" i="0" u="sng" strike="noStrike" cap="none" dirty="0">
                        <a:solidFill>
                          <a:schemeClr val="hlink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Score from 1 to 10</a:t>
                      </a:r>
                      <a:endParaRPr lang="en-US" sz="10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sng" strike="noStrike" cap="none" dirty="0" smtClean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Arial"/>
                        </a:rPr>
                        <a:t>salary</a:t>
                      </a:r>
                      <a:r>
                        <a:rPr lang="en-US" sz="1000" dirty="0" smtClean="0"/>
                        <a:t> </a:t>
                      </a:r>
                      <a:endParaRPr sz="1000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Monthly or annual compensation</a:t>
                      </a:r>
                      <a:endParaRPr sz="1000" b="1" u="sng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16625" y="1623975"/>
            <a:ext cx="3979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Dataset Features: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 dirty="0"/>
          </a:p>
        </p:txBody>
      </p:sp>
      <p:sp>
        <p:nvSpPr>
          <p:cNvPr id="806" name="Google Shape;806;p38"/>
          <p:cNvSpPr txBox="1">
            <a:spLocks noGrp="1"/>
          </p:cNvSpPr>
          <p:nvPr>
            <p:ph type="subTitle" idx="4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050" b="1" dirty="0"/>
              <a:t>Relationship Between Age and Salary</a:t>
            </a:r>
            <a:endParaRPr sz="1050" dirty="0"/>
          </a:p>
        </p:txBody>
      </p:sp>
      <p:sp>
        <p:nvSpPr>
          <p:cNvPr id="807" name="Google Shape;807;p38"/>
          <p:cNvSpPr txBox="1">
            <a:spLocks noGrp="1"/>
          </p:cNvSpPr>
          <p:nvPr>
            <p:ph type="subTitle" idx="5"/>
          </p:nvPr>
        </p:nvSpPr>
        <p:spPr>
          <a:xfrm>
            <a:off x="3419221" y="1796162"/>
            <a:ext cx="2515082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050" b="1" dirty="0"/>
              <a:t>Relationship</a:t>
            </a:r>
            <a:r>
              <a:rPr lang="en-US" sz="1050" dirty="0"/>
              <a:t> </a:t>
            </a:r>
            <a:r>
              <a:rPr lang="en-US" sz="1050" b="1" dirty="0"/>
              <a:t>Between Healthy Eating and Active Lifestyle</a:t>
            </a:r>
            <a:endParaRPr lang="en-US" sz="1050" b="1" dirty="0"/>
          </a:p>
        </p:txBody>
      </p:sp>
      <p:sp>
        <p:nvSpPr>
          <p:cNvPr id="808" name="Google Shape;808;p38"/>
          <p:cNvSpPr txBox="1">
            <a:spLocks noGrp="1"/>
          </p:cNvSpPr>
          <p:nvPr>
            <p:ph type="subTitle" idx="1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050" dirty="0"/>
              <a:t>Distribution of Employee Salaries</a:t>
            </a:r>
            <a:endParaRPr sz="1050" dirty="0"/>
          </a:p>
        </p:txBody>
      </p:sp>
      <p:sp>
        <p:nvSpPr>
          <p:cNvPr id="809" name="Google Shape;809;p38"/>
          <p:cNvSpPr txBox="1">
            <a:spLocks noGrp="1"/>
          </p:cNvSpPr>
          <p:nvPr>
            <p:ph type="subTitle" idx="2"/>
          </p:nvPr>
        </p:nvSpPr>
        <p:spPr>
          <a:xfrm>
            <a:off x="3419224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050" dirty="0"/>
              <a:t>Employee Group Distribution</a:t>
            </a:r>
            <a:endParaRPr sz="1050" dirty="0"/>
          </a:p>
        </p:txBody>
      </p:sp>
      <p:sp>
        <p:nvSpPr>
          <p:cNvPr id="810" name="Google Shape;810;p38"/>
          <p:cNvSpPr txBox="1">
            <a:spLocks noGrp="1"/>
          </p:cNvSpPr>
          <p:nvPr>
            <p:ph type="subTitle" idx="3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050" dirty="0"/>
              <a:t>High Healthy Eating + Low Salary</a:t>
            </a:r>
            <a:endParaRPr sz="1050" dirty="0"/>
          </a:p>
        </p:txBody>
      </p:sp>
      <p:sp>
        <p:nvSpPr>
          <p:cNvPr id="811" name="Google Shape;811;p38"/>
          <p:cNvSpPr/>
          <p:nvPr/>
        </p:nvSpPr>
        <p:spPr>
          <a:xfrm>
            <a:off x="2321947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812" name="Google Shape;812;p38"/>
          <p:cNvGrpSpPr/>
          <p:nvPr/>
        </p:nvGrpSpPr>
        <p:grpSpPr>
          <a:xfrm>
            <a:off x="2435847" y="1343200"/>
            <a:ext cx="339200" cy="338875"/>
            <a:chOff x="2489475" y="2118450"/>
            <a:chExt cx="339200" cy="338875"/>
          </a:xfrm>
        </p:grpSpPr>
        <p:sp>
          <p:nvSpPr>
            <p:cNvPr id="813" name="Google Shape;813;p38"/>
            <p:cNvSpPr/>
            <p:nvPr/>
          </p:nvSpPr>
          <p:spPr>
            <a:xfrm>
              <a:off x="2489475" y="211845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2619450" y="2159900"/>
              <a:ext cx="79600" cy="79250"/>
            </a:xfrm>
            <a:custGeom>
              <a:avLst/>
              <a:gdLst/>
              <a:ahLst/>
              <a:cxnLst/>
              <a:rect l="l" t="t" r="r" b="b"/>
              <a:pathLst>
                <a:path w="3184" h="3170" extrusionOk="0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2560025" y="2282350"/>
              <a:ext cx="198375" cy="92325"/>
            </a:xfrm>
            <a:custGeom>
              <a:avLst/>
              <a:gdLst/>
              <a:ahLst/>
              <a:cxnLst/>
              <a:rect l="l" t="t" r="r" b="b"/>
              <a:pathLst>
                <a:path w="7935" h="3693" extrusionOk="0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816" name="Google Shape;816;p38"/>
          <p:cNvCxnSpPr>
            <a:stCxn id="817" idx="3"/>
            <a:endCxn id="811" idx="1"/>
          </p:cNvCxnSpPr>
          <p:nvPr/>
        </p:nvCxnSpPr>
        <p:spPr>
          <a:xfrm>
            <a:off x="2017150" y="151265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18" name="Google Shape;818;p38"/>
          <p:cNvSpPr/>
          <p:nvPr/>
        </p:nvSpPr>
        <p:spPr>
          <a:xfrm>
            <a:off x="4716422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19" name="Google Shape;819;p38"/>
          <p:cNvCxnSpPr>
            <a:stCxn id="820" idx="3"/>
            <a:endCxn id="818" idx="1"/>
          </p:cNvCxnSpPr>
          <p:nvPr/>
        </p:nvCxnSpPr>
        <p:spPr>
          <a:xfrm>
            <a:off x="4411625" y="1512651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21" name="Google Shape;821;p38"/>
          <p:cNvSpPr/>
          <p:nvPr/>
        </p:nvSpPr>
        <p:spPr>
          <a:xfrm>
            <a:off x="7110897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2" name="Google Shape;822;p38"/>
          <p:cNvSpPr/>
          <p:nvPr/>
        </p:nvSpPr>
        <p:spPr>
          <a:xfrm>
            <a:off x="2321947" y="267468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23" name="Google Shape;823;p38"/>
          <p:cNvCxnSpPr>
            <a:stCxn id="824" idx="3"/>
            <a:endCxn id="822" idx="1"/>
          </p:cNvCxnSpPr>
          <p:nvPr/>
        </p:nvCxnSpPr>
        <p:spPr>
          <a:xfrm>
            <a:off x="2017200" y="295820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25" name="Google Shape;825;p38"/>
          <p:cNvSpPr/>
          <p:nvPr/>
        </p:nvSpPr>
        <p:spPr>
          <a:xfrm>
            <a:off x="4716422" y="267468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26" name="Google Shape;826;p38"/>
          <p:cNvCxnSpPr>
            <a:stCxn id="827" idx="3"/>
            <a:endCxn id="825" idx="1"/>
          </p:cNvCxnSpPr>
          <p:nvPr/>
        </p:nvCxnSpPr>
        <p:spPr>
          <a:xfrm>
            <a:off x="4411625" y="2958199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28" name="Google Shape;828;p38"/>
          <p:cNvSpPr/>
          <p:nvPr/>
        </p:nvSpPr>
        <p:spPr>
          <a:xfrm>
            <a:off x="7110897" y="267468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9" name="Google Shape;829;p38"/>
          <p:cNvSpPr txBox="1">
            <a:spLocks noGrp="1"/>
          </p:cNvSpPr>
          <p:nvPr>
            <p:ph type="subTitle" idx="6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050" dirty="0"/>
              <a:t>Does Healthy Eating Affect Salary?</a:t>
            </a:r>
            <a:endParaRPr sz="1050" dirty="0"/>
          </a:p>
        </p:txBody>
      </p:sp>
      <p:grpSp>
        <p:nvGrpSpPr>
          <p:cNvPr id="830" name="Google Shape;830;p38"/>
          <p:cNvGrpSpPr/>
          <p:nvPr/>
        </p:nvGrpSpPr>
        <p:grpSpPr>
          <a:xfrm>
            <a:off x="7224810" y="2788763"/>
            <a:ext cx="339200" cy="338875"/>
            <a:chOff x="4016825" y="3801400"/>
            <a:chExt cx="339200" cy="338875"/>
          </a:xfrm>
        </p:grpSpPr>
        <p:sp>
          <p:nvSpPr>
            <p:cNvPr id="831" name="Google Shape;831;p38"/>
            <p:cNvSpPr/>
            <p:nvPr/>
          </p:nvSpPr>
          <p:spPr>
            <a:xfrm>
              <a:off x="4016825" y="380140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10125" y="525"/>
                  </a:moveTo>
                  <a:lnTo>
                    <a:pt x="10125" y="4233"/>
                  </a:lnTo>
                  <a:lnTo>
                    <a:pt x="8767" y="4233"/>
                  </a:lnTo>
                  <a:cubicBezTo>
                    <a:pt x="8701" y="4233"/>
                    <a:pt x="8645" y="4259"/>
                    <a:pt x="8588" y="4316"/>
                  </a:cubicBezTo>
                  <a:lnTo>
                    <a:pt x="8133" y="4771"/>
                  </a:lnTo>
                  <a:lnTo>
                    <a:pt x="7675" y="4316"/>
                  </a:lnTo>
                  <a:cubicBezTo>
                    <a:pt x="7635" y="4259"/>
                    <a:pt x="7566" y="4233"/>
                    <a:pt x="7496" y="4233"/>
                  </a:cubicBezTo>
                  <a:lnTo>
                    <a:pt x="6155" y="4233"/>
                  </a:lnTo>
                  <a:lnTo>
                    <a:pt x="6155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8" y="10650"/>
                  </a:lnTo>
                  <a:lnTo>
                    <a:pt x="2128" y="4024"/>
                  </a:lnTo>
                  <a:lnTo>
                    <a:pt x="5614" y="4024"/>
                  </a:lnTo>
                  <a:lnTo>
                    <a:pt x="5614" y="4233"/>
                  </a:lnTo>
                  <a:cubicBezTo>
                    <a:pt x="5614" y="4522"/>
                    <a:pt x="5850" y="4771"/>
                    <a:pt x="6155" y="4771"/>
                  </a:cubicBezTo>
                  <a:lnTo>
                    <a:pt x="7386" y="4771"/>
                  </a:lnTo>
                  <a:lnTo>
                    <a:pt x="7758" y="5146"/>
                  </a:lnTo>
                  <a:cubicBezTo>
                    <a:pt x="7855" y="5242"/>
                    <a:pt x="7994" y="5298"/>
                    <a:pt x="8133" y="5298"/>
                  </a:cubicBezTo>
                  <a:cubicBezTo>
                    <a:pt x="8270" y="5298"/>
                    <a:pt x="8409" y="5242"/>
                    <a:pt x="8505" y="5146"/>
                  </a:cubicBezTo>
                  <a:lnTo>
                    <a:pt x="8880" y="4771"/>
                  </a:lnTo>
                  <a:lnTo>
                    <a:pt x="10125" y="4771"/>
                  </a:lnTo>
                  <a:cubicBezTo>
                    <a:pt x="10414" y="4771"/>
                    <a:pt x="10650" y="4522"/>
                    <a:pt x="10650" y="4233"/>
                  </a:cubicBezTo>
                  <a:lnTo>
                    <a:pt x="10650" y="4024"/>
                  </a:lnTo>
                  <a:close/>
                  <a:moveTo>
                    <a:pt x="12240" y="2961"/>
                  </a:moveTo>
                  <a:cubicBezTo>
                    <a:pt x="12392" y="2961"/>
                    <a:pt x="12502" y="3084"/>
                    <a:pt x="12502" y="3224"/>
                  </a:cubicBezTo>
                  <a:lnTo>
                    <a:pt x="12502" y="11702"/>
                  </a:lnTo>
                  <a:lnTo>
                    <a:pt x="8369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4" y="11964"/>
                  </a:lnTo>
                  <a:cubicBezTo>
                    <a:pt x="5464" y="11825"/>
                    <a:pt x="5338" y="11702"/>
                    <a:pt x="5199" y="11702"/>
                  </a:cubicBezTo>
                  <a:lnTo>
                    <a:pt x="1066" y="11702"/>
                  </a:lnTo>
                  <a:lnTo>
                    <a:pt x="1066" y="3224"/>
                  </a:lnTo>
                  <a:cubicBezTo>
                    <a:pt x="1066" y="3084"/>
                    <a:pt x="1176" y="2961"/>
                    <a:pt x="1328" y="2961"/>
                  </a:cubicBezTo>
                  <a:lnTo>
                    <a:pt x="5614" y="2961"/>
                  </a:lnTo>
                  <a:lnTo>
                    <a:pt x="5614" y="3499"/>
                  </a:lnTo>
                  <a:lnTo>
                    <a:pt x="1853" y="3499"/>
                  </a:lnTo>
                  <a:cubicBezTo>
                    <a:pt x="1713" y="3499"/>
                    <a:pt x="1590" y="3609"/>
                    <a:pt x="1590" y="3761"/>
                  </a:cubicBezTo>
                  <a:lnTo>
                    <a:pt x="1590" y="10912"/>
                  </a:lnTo>
                  <a:cubicBezTo>
                    <a:pt x="1590" y="11051"/>
                    <a:pt x="1713" y="11177"/>
                    <a:pt x="1853" y="11177"/>
                  </a:cubicBezTo>
                  <a:lnTo>
                    <a:pt x="11715" y="11177"/>
                  </a:lnTo>
                  <a:cubicBezTo>
                    <a:pt x="11855" y="11177"/>
                    <a:pt x="11977" y="11051"/>
                    <a:pt x="11977" y="10912"/>
                  </a:cubicBezTo>
                  <a:lnTo>
                    <a:pt x="11977" y="3761"/>
                  </a:lnTo>
                  <a:cubicBezTo>
                    <a:pt x="11977" y="3609"/>
                    <a:pt x="11855" y="3499"/>
                    <a:pt x="11715" y="3499"/>
                  </a:cubicBezTo>
                  <a:lnTo>
                    <a:pt x="10650" y="3499"/>
                  </a:lnTo>
                  <a:lnTo>
                    <a:pt x="10650" y="2961"/>
                  </a:lnTo>
                  <a:close/>
                  <a:moveTo>
                    <a:pt x="13030" y="12240"/>
                  </a:moveTo>
                  <a:lnTo>
                    <a:pt x="13030" y="12767"/>
                  </a:lnTo>
                  <a:cubicBezTo>
                    <a:pt x="13030" y="12904"/>
                    <a:pt x="12917" y="13030"/>
                    <a:pt x="12768" y="13030"/>
                  </a:cubicBezTo>
                  <a:lnTo>
                    <a:pt x="800" y="13030"/>
                  </a:lnTo>
                  <a:cubicBezTo>
                    <a:pt x="651" y="13030"/>
                    <a:pt x="538" y="12904"/>
                    <a:pt x="538" y="12767"/>
                  </a:cubicBezTo>
                  <a:lnTo>
                    <a:pt x="538" y="12240"/>
                  </a:lnTo>
                  <a:lnTo>
                    <a:pt x="5006" y="12240"/>
                  </a:lnTo>
                  <a:cubicBezTo>
                    <a:pt x="5089" y="12392"/>
                    <a:pt x="5269" y="12505"/>
                    <a:pt x="5464" y="12505"/>
                  </a:cubicBezTo>
                  <a:lnTo>
                    <a:pt x="8104" y="12505"/>
                  </a:lnTo>
                  <a:cubicBezTo>
                    <a:pt x="8299" y="12505"/>
                    <a:pt x="8479" y="12392"/>
                    <a:pt x="8562" y="12240"/>
                  </a:cubicBezTo>
                  <a:close/>
                  <a:moveTo>
                    <a:pt x="6155" y="0"/>
                  </a:moveTo>
                  <a:cubicBezTo>
                    <a:pt x="5850" y="0"/>
                    <a:pt x="5614" y="236"/>
                    <a:pt x="5614" y="525"/>
                  </a:cubicBezTo>
                  <a:lnTo>
                    <a:pt x="5614" y="2434"/>
                  </a:lnTo>
                  <a:lnTo>
                    <a:pt x="1328" y="2434"/>
                  </a:lnTo>
                  <a:cubicBezTo>
                    <a:pt x="883" y="2434"/>
                    <a:pt x="538" y="2795"/>
                    <a:pt x="538" y="3224"/>
                  </a:cubicBezTo>
                  <a:lnTo>
                    <a:pt x="538" y="11702"/>
                  </a:lnTo>
                  <a:lnTo>
                    <a:pt x="263" y="11702"/>
                  </a:lnTo>
                  <a:cubicBezTo>
                    <a:pt x="123" y="11702"/>
                    <a:pt x="0" y="11825"/>
                    <a:pt x="0" y="11964"/>
                  </a:cubicBezTo>
                  <a:lnTo>
                    <a:pt x="0" y="12767"/>
                  </a:lnTo>
                  <a:cubicBezTo>
                    <a:pt x="0" y="13209"/>
                    <a:pt x="359" y="13554"/>
                    <a:pt x="800" y="13554"/>
                  </a:cubicBezTo>
                  <a:lnTo>
                    <a:pt x="12768" y="13554"/>
                  </a:lnTo>
                  <a:cubicBezTo>
                    <a:pt x="13209" y="13554"/>
                    <a:pt x="13568" y="13209"/>
                    <a:pt x="13568" y="12767"/>
                  </a:cubicBezTo>
                  <a:lnTo>
                    <a:pt x="13568" y="11964"/>
                  </a:lnTo>
                  <a:cubicBezTo>
                    <a:pt x="13568" y="11825"/>
                    <a:pt x="13445" y="11702"/>
                    <a:pt x="13305" y="11702"/>
                  </a:cubicBezTo>
                  <a:lnTo>
                    <a:pt x="13030" y="11702"/>
                  </a:lnTo>
                  <a:lnTo>
                    <a:pt x="13030" y="3224"/>
                  </a:lnTo>
                  <a:cubicBezTo>
                    <a:pt x="13030" y="2795"/>
                    <a:pt x="12685" y="2434"/>
                    <a:pt x="12240" y="2434"/>
                  </a:cubicBezTo>
                  <a:lnTo>
                    <a:pt x="10650" y="2434"/>
                  </a:lnTo>
                  <a:lnTo>
                    <a:pt x="10650" y="525"/>
                  </a:lnTo>
                  <a:cubicBezTo>
                    <a:pt x="10650" y="236"/>
                    <a:pt x="10414" y="0"/>
                    <a:pt x="10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4186625" y="3828025"/>
              <a:ext cx="67000" cy="66150"/>
            </a:xfrm>
            <a:custGeom>
              <a:avLst/>
              <a:gdLst/>
              <a:ahLst/>
              <a:cxnLst/>
              <a:rect l="l" t="t" r="r" b="b"/>
              <a:pathLst>
                <a:path w="2680" h="2646" extrusionOk="0">
                  <a:moveTo>
                    <a:pt x="1617" y="525"/>
                  </a:moveTo>
                  <a:cubicBezTo>
                    <a:pt x="1909" y="525"/>
                    <a:pt x="2141" y="761"/>
                    <a:pt x="2141" y="1067"/>
                  </a:cubicBezTo>
                  <a:cubicBezTo>
                    <a:pt x="2128" y="1412"/>
                    <a:pt x="1869" y="1584"/>
                    <a:pt x="1610" y="1584"/>
                  </a:cubicBezTo>
                  <a:cubicBezTo>
                    <a:pt x="1351" y="1584"/>
                    <a:pt x="1092" y="1412"/>
                    <a:pt x="1079" y="1067"/>
                  </a:cubicBezTo>
                  <a:cubicBezTo>
                    <a:pt x="1079" y="761"/>
                    <a:pt x="1312" y="525"/>
                    <a:pt x="1617" y="525"/>
                  </a:cubicBezTo>
                  <a:close/>
                  <a:moveTo>
                    <a:pt x="1600" y="1"/>
                  </a:moveTo>
                  <a:cubicBezTo>
                    <a:pt x="793" y="1"/>
                    <a:pt x="279" y="919"/>
                    <a:pt x="704" y="1604"/>
                  </a:cubicBezTo>
                  <a:lnTo>
                    <a:pt x="97" y="2199"/>
                  </a:lnTo>
                  <a:cubicBezTo>
                    <a:pt x="0" y="2295"/>
                    <a:pt x="0" y="2461"/>
                    <a:pt x="97" y="2574"/>
                  </a:cubicBezTo>
                  <a:cubicBezTo>
                    <a:pt x="151" y="2622"/>
                    <a:pt x="220" y="2646"/>
                    <a:pt x="287" y="2646"/>
                  </a:cubicBezTo>
                  <a:cubicBezTo>
                    <a:pt x="355" y="2646"/>
                    <a:pt x="420" y="2622"/>
                    <a:pt x="468" y="2574"/>
                  </a:cubicBezTo>
                  <a:lnTo>
                    <a:pt x="1079" y="1979"/>
                  </a:lnTo>
                  <a:cubicBezTo>
                    <a:pt x="1242" y="2079"/>
                    <a:pt x="1420" y="2125"/>
                    <a:pt x="1595" y="2125"/>
                  </a:cubicBezTo>
                  <a:cubicBezTo>
                    <a:pt x="2148" y="2125"/>
                    <a:pt x="2679" y="1674"/>
                    <a:pt x="2669" y="1067"/>
                  </a:cubicBezTo>
                  <a:cubicBezTo>
                    <a:pt x="2669" y="469"/>
                    <a:pt x="2198" y="1"/>
                    <a:pt x="1617" y="1"/>
                  </a:cubicBezTo>
                  <a:cubicBezTo>
                    <a:pt x="1611" y="1"/>
                    <a:pt x="1605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4083225" y="3928100"/>
              <a:ext cx="119275" cy="126100"/>
            </a:xfrm>
            <a:custGeom>
              <a:avLst/>
              <a:gdLst/>
              <a:ahLst/>
              <a:cxnLst/>
              <a:rect l="l" t="t" r="r" b="b"/>
              <a:pathLst>
                <a:path w="4771" h="5044" extrusionOk="0">
                  <a:moveTo>
                    <a:pt x="2390" y="541"/>
                  </a:moveTo>
                  <a:cubicBezTo>
                    <a:pt x="3188" y="541"/>
                    <a:pt x="3984" y="672"/>
                    <a:pt x="4233" y="934"/>
                  </a:cubicBezTo>
                  <a:cubicBezTo>
                    <a:pt x="3977" y="1190"/>
                    <a:pt x="3178" y="1318"/>
                    <a:pt x="2380" y="1318"/>
                  </a:cubicBezTo>
                  <a:cubicBezTo>
                    <a:pt x="1583" y="1318"/>
                    <a:pt x="787" y="1190"/>
                    <a:pt x="538" y="934"/>
                  </a:cubicBezTo>
                  <a:cubicBezTo>
                    <a:pt x="793" y="672"/>
                    <a:pt x="1593" y="541"/>
                    <a:pt x="2390" y="541"/>
                  </a:cubicBezTo>
                  <a:close/>
                  <a:moveTo>
                    <a:pt x="4233" y="1545"/>
                  </a:moveTo>
                  <a:lnTo>
                    <a:pt x="4233" y="1986"/>
                  </a:lnTo>
                  <a:cubicBezTo>
                    <a:pt x="3997" y="2249"/>
                    <a:pt x="3188" y="2380"/>
                    <a:pt x="2379" y="2380"/>
                  </a:cubicBezTo>
                  <a:cubicBezTo>
                    <a:pt x="1569" y="2380"/>
                    <a:pt x="760" y="2249"/>
                    <a:pt x="525" y="1986"/>
                  </a:cubicBezTo>
                  <a:lnTo>
                    <a:pt x="525" y="1545"/>
                  </a:lnTo>
                  <a:cubicBezTo>
                    <a:pt x="1057" y="1759"/>
                    <a:pt x="1721" y="1866"/>
                    <a:pt x="2384" y="1866"/>
                  </a:cubicBezTo>
                  <a:cubicBezTo>
                    <a:pt x="3046" y="1866"/>
                    <a:pt x="3706" y="1759"/>
                    <a:pt x="4233" y="1545"/>
                  </a:cubicBezTo>
                  <a:close/>
                  <a:moveTo>
                    <a:pt x="4233" y="2607"/>
                  </a:moveTo>
                  <a:lnTo>
                    <a:pt x="4233" y="3039"/>
                  </a:lnTo>
                  <a:cubicBezTo>
                    <a:pt x="3997" y="3308"/>
                    <a:pt x="3188" y="3442"/>
                    <a:pt x="2379" y="3442"/>
                  </a:cubicBezTo>
                  <a:cubicBezTo>
                    <a:pt x="1569" y="3442"/>
                    <a:pt x="760" y="3308"/>
                    <a:pt x="525" y="3039"/>
                  </a:cubicBezTo>
                  <a:lnTo>
                    <a:pt x="525" y="2607"/>
                  </a:lnTo>
                  <a:cubicBezTo>
                    <a:pt x="1057" y="2815"/>
                    <a:pt x="1721" y="2918"/>
                    <a:pt x="2384" y="2918"/>
                  </a:cubicBezTo>
                  <a:cubicBezTo>
                    <a:pt x="3046" y="2918"/>
                    <a:pt x="3706" y="2815"/>
                    <a:pt x="4233" y="2607"/>
                  </a:cubicBezTo>
                  <a:close/>
                  <a:moveTo>
                    <a:pt x="4233" y="3673"/>
                  </a:moveTo>
                  <a:lnTo>
                    <a:pt x="4233" y="4101"/>
                  </a:lnTo>
                  <a:cubicBezTo>
                    <a:pt x="4163" y="4214"/>
                    <a:pt x="3539" y="4503"/>
                    <a:pt x="2377" y="4503"/>
                  </a:cubicBezTo>
                  <a:cubicBezTo>
                    <a:pt x="1215" y="4503"/>
                    <a:pt x="594" y="4214"/>
                    <a:pt x="525" y="4101"/>
                  </a:cubicBezTo>
                  <a:lnTo>
                    <a:pt x="525" y="3673"/>
                  </a:lnTo>
                  <a:cubicBezTo>
                    <a:pt x="1057" y="3880"/>
                    <a:pt x="1721" y="3984"/>
                    <a:pt x="2384" y="3984"/>
                  </a:cubicBezTo>
                  <a:cubicBezTo>
                    <a:pt x="3046" y="3984"/>
                    <a:pt x="3706" y="3880"/>
                    <a:pt x="4233" y="3673"/>
                  </a:cubicBezTo>
                  <a:close/>
                  <a:moveTo>
                    <a:pt x="2380" y="1"/>
                  </a:moveTo>
                  <a:cubicBezTo>
                    <a:pt x="1189" y="1"/>
                    <a:pt x="0" y="312"/>
                    <a:pt x="0" y="934"/>
                  </a:cubicBezTo>
                  <a:lnTo>
                    <a:pt x="0" y="4101"/>
                  </a:lnTo>
                  <a:cubicBezTo>
                    <a:pt x="0" y="4835"/>
                    <a:pt x="1494" y="5044"/>
                    <a:pt x="2377" y="5044"/>
                  </a:cubicBezTo>
                  <a:cubicBezTo>
                    <a:pt x="3263" y="5044"/>
                    <a:pt x="4770" y="4835"/>
                    <a:pt x="4770" y="4101"/>
                  </a:cubicBezTo>
                  <a:lnTo>
                    <a:pt x="4770" y="934"/>
                  </a:lnTo>
                  <a:cubicBezTo>
                    <a:pt x="4764" y="312"/>
                    <a:pt x="3571" y="1"/>
                    <a:pt x="2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4216325" y="4024400"/>
              <a:ext cx="67425" cy="13200"/>
            </a:xfrm>
            <a:custGeom>
              <a:avLst/>
              <a:gdLst/>
              <a:ahLst/>
              <a:cxnLst/>
              <a:rect l="l" t="t" r="r" b="b"/>
              <a:pathLst>
                <a:path w="2697" h="528" extrusionOk="0">
                  <a:moveTo>
                    <a:pt x="346" y="0"/>
                  </a:moveTo>
                  <a:cubicBezTo>
                    <a:pt x="1" y="17"/>
                    <a:pt x="1" y="528"/>
                    <a:pt x="346" y="528"/>
                  </a:cubicBezTo>
                  <a:lnTo>
                    <a:pt x="2407" y="528"/>
                  </a:lnTo>
                  <a:cubicBezTo>
                    <a:pt x="2530" y="528"/>
                    <a:pt x="2656" y="445"/>
                    <a:pt x="2670" y="305"/>
                  </a:cubicBezTo>
                  <a:cubicBezTo>
                    <a:pt x="2696" y="140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4216325" y="3998175"/>
              <a:ext cx="67425" cy="13125"/>
            </a:xfrm>
            <a:custGeom>
              <a:avLst/>
              <a:gdLst/>
              <a:ahLst/>
              <a:cxnLst/>
              <a:rect l="l" t="t" r="r" b="b"/>
              <a:pathLst>
                <a:path w="2697" h="525" extrusionOk="0">
                  <a:moveTo>
                    <a:pt x="346" y="0"/>
                  </a:moveTo>
                  <a:cubicBezTo>
                    <a:pt x="1" y="0"/>
                    <a:pt x="1" y="511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8"/>
                    <a:pt x="2670" y="302"/>
                  </a:cubicBezTo>
                  <a:cubicBezTo>
                    <a:pt x="2696" y="136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4216325" y="3971525"/>
              <a:ext cx="67425" cy="13125"/>
            </a:xfrm>
            <a:custGeom>
              <a:avLst/>
              <a:gdLst/>
              <a:ahLst/>
              <a:cxnLst/>
              <a:rect l="l" t="t" r="r" b="b"/>
              <a:pathLst>
                <a:path w="2697" h="525" extrusionOk="0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9"/>
                    <a:pt x="2670" y="306"/>
                  </a:cubicBezTo>
                  <a:cubicBezTo>
                    <a:pt x="2696" y="140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4216325" y="3944875"/>
              <a:ext cx="67425" cy="13575"/>
            </a:xfrm>
            <a:custGeom>
              <a:avLst/>
              <a:gdLst/>
              <a:ahLst/>
              <a:cxnLst/>
              <a:rect l="l" t="t" r="r" b="b"/>
              <a:pathLst>
                <a:path w="2697" h="543" extrusionOk="0">
                  <a:moveTo>
                    <a:pt x="346" y="1"/>
                  </a:moveTo>
                  <a:cubicBezTo>
                    <a:pt x="1" y="14"/>
                    <a:pt x="1" y="525"/>
                    <a:pt x="346" y="542"/>
                  </a:cubicBezTo>
                  <a:lnTo>
                    <a:pt x="2407" y="542"/>
                  </a:lnTo>
                  <a:cubicBezTo>
                    <a:pt x="2530" y="542"/>
                    <a:pt x="2656" y="442"/>
                    <a:pt x="2670" y="306"/>
                  </a:cubicBezTo>
                  <a:cubicBezTo>
                    <a:pt x="2696" y="154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38" name="Google Shape;838;p38"/>
          <p:cNvGrpSpPr/>
          <p:nvPr/>
        </p:nvGrpSpPr>
        <p:grpSpPr>
          <a:xfrm>
            <a:off x="4863535" y="2788538"/>
            <a:ext cx="272800" cy="339300"/>
            <a:chOff x="4108450" y="3256400"/>
            <a:chExt cx="272800" cy="339300"/>
          </a:xfrm>
        </p:grpSpPr>
        <p:sp>
          <p:nvSpPr>
            <p:cNvPr id="839" name="Google Shape;839;p38"/>
            <p:cNvSpPr/>
            <p:nvPr/>
          </p:nvSpPr>
          <p:spPr>
            <a:xfrm>
              <a:off x="4108450" y="3256400"/>
              <a:ext cx="272800" cy="339300"/>
            </a:xfrm>
            <a:custGeom>
              <a:avLst/>
              <a:gdLst/>
              <a:ahLst/>
              <a:cxnLst/>
              <a:rect l="l" t="t" r="r" b="b"/>
              <a:pathLst>
                <a:path w="10912" h="13572" extrusionOk="0">
                  <a:moveTo>
                    <a:pt x="8714" y="817"/>
                  </a:moveTo>
                  <a:lnTo>
                    <a:pt x="10069" y="2172"/>
                  </a:lnTo>
                  <a:lnTo>
                    <a:pt x="8714" y="2172"/>
                  </a:lnTo>
                  <a:lnTo>
                    <a:pt x="8714" y="817"/>
                  </a:lnTo>
                  <a:close/>
                  <a:moveTo>
                    <a:pt x="8190" y="1564"/>
                  </a:moveTo>
                  <a:lnTo>
                    <a:pt x="8190" y="2451"/>
                  </a:lnTo>
                  <a:cubicBezTo>
                    <a:pt x="8190" y="2587"/>
                    <a:pt x="8299" y="2713"/>
                    <a:pt x="8452" y="2713"/>
                  </a:cubicBezTo>
                  <a:lnTo>
                    <a:pt x="9322" y="2713"/>
                  </a:lnTo>
                  <a:lnTo>
                    <a:pt x="9322" y="10570"/>
                  </a:lnTo>
                  <a:lnTo>
                    <a:pt x="2961" y="10570"/>
                  </a:lnTo>
                  <a:lnTo>
                    <a:pt x="2961" y="1564"/>
                  </a:lnTo>
                  <a:close/>
                  <a:moveTo>
                    <a:pt x="8190" y="542"/>
                  </a:moveTo>
                  <a:lnTo>
                    <a:pt x="8190" y="1066"/>
                  </a:lnTo>
                  <a:lnTo>
                    <a:pt x="2696" y="1066"/>
                  </a:lnTo>
                  <a:cubicBezTo>
                    <a:pt x="2560" y="1066"/>
                    <a:pt x="2433" y="1192"/>
                    <a:pt x="2433" y="1329"/>
                  </a:cubicBezTo>
                  <a:lnTo>
                    <a:pt x="2433" y="10846"/>
                  </a:lnTo>
                  <a:cubicBezTo>
                    <a:pt x="2433" y="10985"/>
                    <a:pt x="2560" y="11108"/>
                    <a:pt x="2696" y="11108"/>
                  </a:cubicBezTo>
                  <a:lnTo>
                    <a:pt x="9584" y="11108"/>
                  </a:lnTo>
                  <a:cubicBezTo>
                    <a:pt x="9737" y="11108"/>
                    <a:pt x="9849" y="10985"/>
                    <a:pt x="9849" y="10846"/>
                  </a:cubicBezTo>
                  <a:lnTo>
                    <a:pt x="9849" y="2713"/>
                  </a:lnTo>
                  <a:lnTo>
                    <a:pt x="10387" y="2713"/>
                  </a:lnTo>
                  <a:lnTo>
                    <a:pt x="10387" y="11633"/>
                  </a:lnTo>
                  <a:lnTo>
                    <a:pt x="1909" y="11633"/>
                  </a:lnTo>
                  <a:lnTo>
                    <a:pt x="1909" y="542"/>
                  </a:lnTo>
                  <a:close/>
                  <a:moveTo>
                    <a:pt x="1368" y="1909"/>
                  </a:moveTo>
                  <a:lnTo>
                    <a:pt x="1368" y="11925"/>
                  </a:lnTo>
                  <a:cubicBezTo>
                    <a:pt x="1368" y="12077"/>
                    <a:pt x="1494" y="12187"/>
                    <a:pt x="1647" y="12187"/>
                  </a:cubicBezTo>
                  <a:lnTo>
                    <a:pt x="9003" y="12187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47" y="1"/>
                  </a:moveTo>
                  <a:cubicBezTo>
                    <a:pt x="1494" y="1"/>
                    <a:pt x="1368" y="127"/>
                    <a:pt x="1368" y="280"/>
                  </a:cubicBezTo>
                  <a:lnTo>
                    <a:pt x="1368" y="1385"/>
                  </a:lnTo>
                  <a:lnTo>
                    <a:pt x="262" y="1385"/>
                  </a:lnTo>
                  <a:cubicBezTo>
                    <a:pt x="110" y="1385"/>
                    <a:pt x="0" y="1508"/>
                    <a:pt x="0" y="1647"/>
                  </a:cubicBezTo>
                  <a:lnTo>
                    <a:pt x="0" y="13309"/>
                  </a:lnTo>
                  <a:cubicBezTo>
                    <a:pt x="0" y="13445"/>
                    <a:pt x="110" y="13571"/>
                    <a:pt x="262" y="13571"/>
                  </a:cubicBezTo>
                  <a:lnTo>
                    <a:pt x="9269" y="13571"/>
                  </a:lnTo>
                  <a:cubicBezTo>
                    <a:pt x="9418" y="13571"/>
                    <a:pt x="9531" y="13445"/>
                    <a:pt x="9531" y="13309"/>
                  </a:cubicBezTo>
                  <a:lnTo>
                    <a:pt x="9531" y="12187"/>
                  </a:lnTo>
                  <a:lnTo>
                    <a:pt x="10829" y="12187"/>
                  </a:lnTo>
                  <a:cubicBezTo>
                    <a:pt x="10872" y="12187"/>
                    <a:pt x="10912" y="12160"/>
                    <a:pt x="10912" y="12117"/>
                  </a:cubicBezTo>
                  <a:lnTo>
                    <a:pt x="10912" y="2228"/>
                  </a:lnTo>
                  <a:cubicBezTo>
                    <a:pt x="10912" y="2215"/>
                    <a:pt x="10898" y="2202"/>
                    <a:pt x="10885" y="2202"/>
                  </a:cubicBezTo>
                  <a:lnTo>
                    <a:pt x="10829" y="2202"/>
                  </a:lnTo>
                  <a:lnTo>
                    <a:pt x="8714" y="84"/>
                  </a:lnTo>
                  <a:cubicBezTo>
                    <a:pt x="8658" y="31"/>
                    <a:pt x="860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4268525" y="3324075"/>
              <a:ext cx="59525" cy="59650"/>
            </a:xfrm>
            <a:custGeom>
              <a:avLst/>
              <a:gdLst/>
              <a:ahLst/>
              <a:cxnLst/>
              <a:rect l="l" t="t" r="r" b="b"/>
              <a:pathLst>
                <a:path w="2381" h="2386" extrusionOk="0">
                  <a:moveTo>
                    <a:pt x="542" y="560"/>
                  </a:moveTo>
                  <a:cubicBezTo>
                    <a:pt x="1189" y="670"/>
                    <a:pt x="1717" y="1194"/>
                    <a:pt x="1826" y="1858"/>
                  </a:cubicBezTo>
                  <a:lnTo>
                    <a:pt x="542" y="1858"/>
                  </a:lnTo>
                  <a:lnTo>
                    <a:pt x="542" y="560"/>
                  </a:lnTo>
                  <a:close/>
                  <a:moveTo>
                    <a:pt x="213" y="1"/>
                  </a:moveTo>
                  <a:cubicBezTo>
                    <a:pt x="97" y="1"/>
                    <a:pt x="1" y="81"/>
                    <a:pt x="1" y="212"/>
                  </a:cubicBezTo>
                  <a:lnTo>
                    <a:pt x="1" y="2120"/>
                  </a:lnTo>
                  <a:cubicBezTo>
                    <a:pt x="1" y="2260"/>
                    <a:pt x="127" y="2386"/>
                    <a:pt x="263" y="2386"/>
                  </a:cubicBezTo>
                  <a:lnTo>
                    <a:pt x="2119" y="2386"/>
                  </a:lnTo>
                  <a:cubicBezTo>
                    <a:pt x="2268" y="2386"/>
                    <a:pt x="2381" y="2260"/>
                    <a:pt x="2381" y="2120"/>
                  </a:cubicBezTo>
                  <a:cubicBezTo>
                    <a:pt x="2381" y="959"/>
                    <a:pt x="1438" y="6"/>
                    <a:pt x="263" y="6"/>
                  </a:cubicBezTo>
                  <a:cubicBezTo>
                    <a:pt x="246" y="3"/>
                    <a:pt x="229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4178650" y="3350850"/>
              <a:ext cx="123100" cy="105500"/>
            </a:xfrm>
            <a:custGeom>
              <a:avLst/>
              <a:gdLst/>
              <a:ahLst/>
              <a:cxnLst/>
              <a:rect l="l" t="t" r="r" b="b"/>
              <a:pathLst>
                <a:path w="4924" h="4220" extrusionOk="0">
                  <a:moveTo>
                    <a:pt x="2543" y="551"/>
                  </a:moveTo>
                  <a:lnTo>
                    <a:pt x="2543" y="1962"/>
                  </a:lnTo>
                  <a:lnTo>
                    <a:pt x="1328" y="2669"/>
                  </a:lnTo>
                  <a:cubicBezTo>
                    <a:pt x="967" y="1756"/>
                    <a:pt x="1591" y="704"/>
                    <a:pt x="2543" y="551"/>
                  </a:cubicBezTo>
                  <a:close/>
                  <a:moveTo>
                    <a:pt x="4356" y="2377"/>
                  </a:moveTo>
                  <a:cubicBezTo>
                    <a:pt x="4286" y="2752"/>
                    <a:pt x="4094" y="3084"/>
                    <a:pt x="3805" y="3333"/>
                  </a:cubicBezTo>
                  <a:lnTo>
                    <a:pt x="3250" y="2377"/>
                  </a:lnTo>
                  <a:close/>
                  <a:moveTo>
                    <a:pt x="2696" y="2477"/>
                  </a:moveTo>
                  <a:lnTo>
                    <a:pt x="3347" y="3609"/>
                  </a:lnTo>
                  <a:cubicBezTo>
                    <a:pt x="3182" y="3673"/>
                    <a:pt x="3004" y="3703"/>
                    <a:pt x="2825" y="3703"/>
                  </a:cubicBezTo>
                  <a:cubicBezTo>
                    <a:pt x="2346" y="3703"/>
                    <a:pt x="1858" y="3487"/>
                    <a:pt x="1577" y="3124"/>
                  </a:cubicBezTo>
                  <a:lnTo>
                    <a:pt x="2696" y="2477"/>
                  </a:lnTo>
                  <a:close/>
                  <a:moveTo>
                    <a:pt x="2809" y="0"/>
                  </a:moveTo>
                  <a:cubicBezTo>
                    <a:pt x="1" y="97"/>
                    <a:pt x="14" y="4120"/>
                    <a:pt x="2809" y="4220"/>
                  </a:cubicBezTo>
                  <a:cubicBezTo>
                    <a:pt x="3971" y="4220"/>
                    <a:pt x="4924" y="3277"/>
                    <a:pt x="4924" y="2115"/>
                  </a:cubicBezTo>
                  <a:cubicBezTo>
                    <a:pt x="4924" y="1962"/>
                    <a:pt x="4801" y="1839"/>
                    <a:pt x="4648" y="1839"/>
                  </a:cubicBezTo>
                  <a:lnTo>
                    <a:pt x="3071" y="1839"/>
                  </a:lnTo>
                  <a:lnTo>
                    <a:pt x="3071" y="263"/>
                  </a:lnTo>
                  <a:cubicBezTo>
                    <a:pt x="3071" y="110"/>
                    <a:pt x="2945" y="0"/>
                    <a:pt x="2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4195250" y="3310675"/>
              <a:ext cx="61925" cy="13550"/>
            </a:xfrm>
            <a:custGeom>
              <a:avLst/>
              <a:gdLst/>
              <a:ahLst/>
              <a:cxnLst/>
              <a:rect l="l" t="t" r="r" b="b"/>
              <a:pathLst>
                <a:path w="2477" h="542" extrusionOk="0">
                  <a:moveTo>
                    <a:pt x="276" y="1"/>
                  </a:moveTo>
                  <a:cubicBezTo>
                    <a:pt x="123" y="1"/>
                    <a:pt x="1" y="153"/>
                    <a:pt x="27" y="306"/>
                  </a:cubicBezTo>
                  <a:cubicBezTo>
                    <a:pt x="40" y="446"/>
                    <a:pt x="153" y="542"/>
                    <a:pt x="289" y="542"/>
                  </a:cubicBezTo>
                  <a:lnTo>
                    <a:pt x="2128" y="542"/>
                  </a:lnTo>
                  <a:cubicBezTo>
                    <a:pt x="2477" y="529"/>
                    <a:pt x="2477" y="17"/>
                    <a:pt x="2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4193500" y="3495000"/>
              <a:ext cx="62275" cy="13225"/>
            </a:xfrm>
            <a:custGeom>
              <a:avLst/>
              <a:gdLst/>
              <a:ahLst/>
              <a:cxnLst/>
              <a:rect l="l" t="t" r="r" b="b"/>
              <a:pathLst>
                <a:path w="2491" h="529" extrusionOk="0">
                  <a:moveTo>
                    <a:pt x="346" y="1"/>
                  </a:moveTo>
                  <a:cubicBezTo>
                    <a:pt x="1" y="14"/>
                    <a:pt x="1" y="512"/>
                    <a:pt x="346" y="528"/>
                  </a:cubicBezTo>
                  <a:lnTo>
                    <a:pt x="2198" y="528"/>
                  </a:lnTo>
                  <a:cubicBezTo>
                    <a:pt x="2364" y="528"/>
                    <a:pt x="2491" y="389"/>
                    <a:pt x="2464" y="223"/>
                  </a:cubicBezTo>
                  <a:cubicBezTo>
                    <a:pt x="2447" y="97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4193500" y="3468350"/>
              <a:ext cx="62275" cy="13225"/>
            </a:xfrm>
            <a:custGeom>
              <a:avLst/>
              <a:gdLst/>
              <a:ahLst/>
              <a:cxnLst/>
              <a:rect l="l" t="t" r="r" b="b"/>
              <a:pathLst>
                <a:path w="2491" h="529" extrusionOk="0">
                  <a:moveTo>
                    <a:pt x="346" y="1"/>
                  </a:moveTo>
                  <a:cubicBezTo>
                    <a:pt x="1" y="18"/>
                    <a:pt x="1" y="529"/>
                    <a:pt x="346" y="529"/>
                  </a:cubicBezTo>
                  <a:lnTo>
                    <a:pt x="2198" y="529"/>
                  </a:lnTo>
                  <a:cubicBezTo>
                    <a:pt x="2364" y="529"/>
                    <a:pt x="2491" y="389"/>
                    <a:pt x="2464" y="223"/>
                  </a:cubicBezTo>
                  <a:cubicBezTo>
                    <a:pt x="2447" y="101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4266450" y="3495000"/>
              <a:ext cx="62275" cy="13225"/>
            </a:xfrm>
            <a:custGeom>
              <a:avLst/>
              <a:gdLst/>
              <a:ahLst/>
              <a:cxnLst/>
              <a:rect l="l" t="t" r="r" b="b"/>
              <a:pathLst>
                <a:path w="2491" h="529" extrusionOk="0">
                  <a:moveTo>
                    <a:pt x="359" y="1"/>
                  </a:moveTo>
                  <a:cubicBezTo>
                    <a:pt x="1" y="14"/>
                    <a:pt x="1" y="512"/>
                    <a:pt x="359" y="528"/>
                  </a:cubicBezTo>
                  <a:lnTo>
                    <a:pt x="2202" y="528"/>
                  </a:lnTo>
                  <a:cubicBezTo>
                    <a:pt x="2368" y="528"/>
                    <a:pt x="2490" y="389"/>
                    <a:pt x="2464" y="223"/>
                  </a:cubicBezTo>
                  <a:cubicBezTo>
                    <a:pt x="2451" y="97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4266450" y="3468350"/>
              <a:ext cx="62275" cy="13225"/>
            </a:xfrm>
            <a:custGeom>
              <a:avLst/>
              <a:gdLst/>
              <a:ahLst/>
              <a:cxnLst/>
              <a:rect l="l" t="t" r="r" b="b"/>
              <a:pathLst>
                <a:path w="2491" h="529" extrusionOk="0">
                  <a:moveTo>
                    <a:pt x="359" y="1"/>
                  </a:moveTo>
                  <a:cubicBezTo>
                    <a:pt x="1" y="18"/>
                    <a:pt x="1" y="529"/>
                    <a:pt x="359" y="529"/>
                  </a:cubicBezTo>
                  <a:lnTo>
                    <a:pt x="2202" y="529"/>
                  </a:lnTo>
                  <a:cubicBezTo>
                    <a:pt x="2368" y="529"/>
                    <a:pt x="2490" y="389"/>
                    <a:pt x="2464" y="223"/>
                  </a:cubicBezTo>
                  <a:cubicBezTo>
                    <a:pt x="2451" y="101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47" name="Google Shape;847;p38"/>
          <p:cNvGrpSpPr/>
          <p:nvPr/>
        </p:nvGrpSpPr>
        <p:grpSpPr>
          <a:xfrm>
            <a:off x="7224810" y="1342988"/>
            <a:ext cx="339275" cy="339300"/>
            <a:chOff x="3277475" y="3256400"/>
            <a:chExt cx="339275" cy="339300"/>
          </a:xfrm>
        </p:grpSpPr>
        <p:sp>
          <p:nvSpPr>
            <p:cNvPr id="848" name="Google Shape;848;p38"/>
            <p:cNvSpPr/>
            <p:nvPr/>
          </p:nvSpPr>
          <p:spPr>
            <a:xfrm>
              <a:off x="3277475" y="3256400"/>
              <a:ext cx="339275" cy="339300"/>
            </a:xfrm>
            <a:custGeom>
              <a:avLst/>
              <a:gdLst/>
              <a:ahLst/>
              <a:cxnLst/>
              <a:rect l="l" t="t" r="r" b="b"/>
              <a:pathLst>
                <a:path w="13571" h="13572" extrusionOk="0">
                  <a:moveTo>
                    <a:pt x="2546" y="2451"/>
                  </a:moveTo>
                  <a:lnTo>
                    <a:pt x="2546" y="2975"/>
                  </a:lnTo>
                  <a:lnTo>
                    <a:pt x="1328" y="2975"/>
                  </a:lnTo>
                  <a:cubicBezTo>
                    <a:pt x="1179" y="2975"/>
                    <a:pt x="1066" y="3085"/>
                    <a:pt x="1066" y="3237"/>
                  </a:cubicBezTo>
                  <a:lnTo>
                    <a:pt x="1066" y="9863"/>
                  </a:lnTo>
                  <a:lnTo>
                    <a:pt x="541" y="9863"/>
                  </a:lnTo>
                  <a:lnTo>
                    <a:pt x="541" y="2713"/>
                  </a:lnTo>
                  <a:cubicBezTo>
                    <a:pt x="541" y="2560"/>
                    <a:pt x="651" y="2451"/>
                    <a:pt x="804" y="2451"/>
                  </a:cubicBezTo>
                  <a:close/>
                  <a:moveTo>
                    <a:pt x="2546" y="3500"/>
                  </a:moveTo>
                  <a:lnTo>
                    <a:pt x="2546" y="9863"/>
                  </a:lnTo>
                  <a:lnTo>
                    <a:pt x="1594" y="9863"/>
                  </a:lnTo>
                  <a:lnTo>
                    <a:pt x="1594" y="3500"/>
                  </a:lnTo>
                  <a:close/>
                  <a:moveTo>
                    <a:pt x="10500" y="542"/>
                  </a:moveTo>
                  <a:lnTo>
                    <a:pt x="10500" y="9863"/>
                  </a:lnTo>
                  <a:lnTo>
                    <a:pt x="3071" y="9863"/>
                  </a:lnTo>
                  <a:lnTo>
                    <a:pt x="3071" y="542"/>
                  </a:lnTo>
                  <a:close/>
                  <a:moveTo>
                    <a:pt x="11981" y="3500"/>
                  </a:moveTo>
                  <a:lnTo>
                    <a:pt x="11981" y="9863"/>
                  </a:lnTo>
                  <a:lnTo>
                    <a:pt x="11025" y="9863"/>
                  </a:lnTo>
                  <a:lnTo>
                    <a:pt x="11025" y="3500"/>
                  </a:lnTo>
                  <a:close/>
                  <a:moveTo>
                    <a:pt x="12767" y="2451"/>
                  </a:moveTo>
                  <a:cubicBezTo>
                    <a:pt x="12920" y="2451"/>
                    <a:pt x="13030" y="2560"/>
                    <a:pt x="13030" y="2713"/>
                  </a:cubicBezTo>
                  <a:lnTo>
                    <a:pt x="13030" y="9863"/>
                  </a:lnTo>
                  <a:lnTo>
                    <a:pt x="12505" y="9863"/>
                  </a:lnTo>
                  <a:lnTo>
                    <a:pt x="12505" y="3237"/>
                  </a:lnTo>
                  <a:cubicBezTo>
                    <a:pt x="12505" y="3085"/>
                    <a:pt x="12396" y="2975"/>
                    <a:pt x="12243" y="2975"/>
                  </a:cubicBezTo>
                  <a:lnTo>
                    <a:pt x="11025" y="2975"/>
                  </a:lnTo>
                  <a:lnTo>
                    <a:pt x="11025" y="2451"/>
                  </a:lnTo>
                  <a:close/>
                  <a:moveTo>
                    <a:pt x="13030" y="10388"/>
                  </a:moveTo>
                  <a:lnTo>
                    <a:pt x="13030" y="10653"/>
                  </a:lnTo>
                  <a:cubicBezTo>
                    <a:pt x="13030" y="10803"/>
                    <a:pt x="12920" y="10915"/>
                    <a:pt x="12767" y="10915"/>
                  </a:cubicBezTo>
                  <a:lnTo>
                    <a:pt x="804" y="10915"/>
                  </a:lnTo>
                  <a:cubicBezTo>
                    <a:pt x="651" y="10915"/>
                    <a:pt x="541" y="10803"/>
                    <a:pt x="541" y="10653"/>
                  </a:cubicBezTo>
                  <a:lnTo>
                    <a:pt x="541" y="10388"/>
                  </a:lnTo>
                  <a:close/>
                  <a:moveTo>
                    <a:pt x="7595" y="11453"/>
                  </a:moveTo>
                  <a:lnTo>
                    <a:pt x="8024" y="13043"/>
                  </a:lnTo>
                  <a:lnTo>
                    <a:pt x="5534" y="13043"/>
                  </a:lnTo>
                  <a:lnTo>
                    <a:pt x="5962" y="11453"/>
                  </a:lnTo>
                  <a:close/>
                  <a:moveTo>
                    <a:pt x="2809" y="1"/>
                  </a:moveTo>
                  <a:cubicBezTo>
                    <a:pt x="2672" y="1"/>
                    <a:pt x="2546" y="127"/>
                    <a:pt x="2546" y="280"/>
                  </a:cubicBezTo>
                  <a:lnTo>
                    <a:pt x="2546" y="1909"/>
                  </a:lnTo>
                  <a:lnTo>
                    <a:pt x="804" y="1909"/>
                  </a:lnTo>
                  <a:cubicBezTo>
                    <a:pt x="362" y="1909"/>
                    <a:pt x="0" y="2271"/>
                    <a:pt x="0" y="2713"/>
                  </a:cubicBezTo>
                  <a:lnTo>
                    <a:pt x="0" y="10653"/>
                  </a:lnTo>
                  <a:cubicBezTo>
                    <a:pt x="0" y="11095"/>
                    <a:pt x="362" y="11453"/>
                    <a:pt x="804" y="11453"/>
                  </a:cubicBezTo>
                  <a:lnTo>
                    <a:pt x="5424" y="11453"/>
                  </a:lnTo>
                  <a:lnTo>
                    <a:pt x="4996" y="13043"/>
                  </a:lnTo>
                  <a:lnTo>
                    <a:pt x="4664" y="13043"/>
                  </a:lnTo>
                  <a:cubicBezTo>
                    <a:pt x="4302" y="13043"/>
                    <a:pt x="4302" y="13558"/>
                    <a:pt x="4664" y="13571"/>
                  </a:cubicBezTo>
                  <a:lnTo>
                    <a:pt x="8897" y="13571"/>
                  </a:lnTo>
                  <a:cubicBezTo>
                    <a:pt x="9242" y="13558"/>
                    <a:pt x="9255" y="13060"/>
                    <a:pt x="8897" y="13043"/>
                  </a:cubicBezTo>
                  <a:lnTo>
                    <a:pt x="8578" y="13043"/>
                  </a:lnTo>
                  <a:lnTo>
                    <a:pt x="8150" y="11453"/>
                  </a:lnTo>
                  <a:lnTo>
                    <a:pt x="12767" y="11453"/>
                  </a:lnTo>
                  <a:cubicBezTo>
                    <a:pt x="13212" y="11453"/>
                    <a:pt x="13571" y="11095"/>
                    <a:pt x="13571" y="10653"/>
                  </a:cubicBezTo>
                  <a:lnTo>
                    <a:pt x="13571" y="2713"/>
                  </a:lnTo>
                  <a:cubicBezTo>
                    <a:pt x="13571" y="2271"/>
                    <a:pt x="13212" y="1909"/>
                    <a:pt x="12767" y="1909"/>
                  </a:cubicBezTo>
                  <a:lnTo>
                    <a:pt x="11025" y="1909"/>
                  </a:lnTo>
                  <a:lnTo>
                    <a:pt x="11025" y="280"/>
                  </a:lnTo>
                  <a:cubicBezTo>
                    <a:pt x="11025" y="127"/>
                    <a:pt x="10902" y="1"/>
                    <a:pt x="10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3374325" y="3341150"/>
              <a:ext cx="145575" cy="145900"/>
            </a:xfrm>
            <a:custGeom>
              <a:avLst/>
              <a:gdLst/>
              <a:ahLst/>
              <a:cxnLst/>
              <a:rect l="l" t="t" r="r" b="b"/>
              <a:pathLst>
                <a:path w="5823" h="5836" extrusionOk="0">
                  <a:moveTo>
                    <a:pt x="3306" y="541"/>
                  </a:moveTo>
                  <a:lnTo>
                    <a:pt x="3306" y="1328"/>
                  </a:lnTo>
                  <a:lnTo>
                    <a:pt x="2516" y="1328"/>
                  </a:lnTo>
                  <a:lnTo>
                    <a:pt x="2516" y="541"/>
                  </a:lnTo>
                  <a:close/>
                  <a:moveTo>
                    <a:pt x="1328" y="2516"/>
                  </a:moveTo>
                  <a:lnTo>
                    <a:pt x="1328" y="3320"/>
                  </a:lnTo>
                  <a:lnTo>
                    <a:pt x="525" y="3320"/>
                  </a:lnTo>
                  <a:lnTo>
                    <a:pt x="525" y="2516"/>
                  </a:lnTo>
                  <a:close/>
                  <a:moveTo>
                    <a:pt x="5298" y="2516"/>
                  </a:moveTo>
                  <a:lnTo>
                    <a:pt x="5298" y="3320"/>
                  </a:lnTo>
                  <a:lnTo>
                    <a:pt x="4495" y="3320"/>
                  </a:lnTo>
                  <a:lnTo>
                    <a:pt x="4495" y="2516"/>
                  </a:lnTo>
                  <a:close/>
                  <a:moveTo>
                    <a:pt x="3306" y="4508"/>
                  </a:moveTo>
                  <a:lnTo>
                    <a:pt x="3306" y="5298"/>
                  </a:lnTo>
                  <a:lnTo>
                    <a:pt x="2516" y="5298"/>
                  </a:lnTo>
                  <a:lnTo>
                    <a:pt x="2516" y="4508"/>
                  </a:lnTo>
                  <a:close/>
                  <a:moveTo>
                    <a:pt x="2254" y="0"/>
                  </a:moveTo>
                  <a:cubicBezTo>
                    <a:pt x="2101" y="0"/>
                    <a:pt x="1979" y="126"/>
                    <a:pt x="1979" y="276"/>
                  </a:cubicBezTo>
                  <a:lnTo>
                    <a:pt x="1979" y="1590"/>
                  </a:lnTo>
                  <a:cubicBezTo>
                    <a:pt x="1979" y="1743"/>
                    <a:pt x="2101" y="1869"/>
                    <a:pt x="2254" y="1869"/>
                  </a:cubicBezTo>
                  <a:lnTo>
                    <a:pt x="2643" y="1869"/>
                  </a:lnTo>
                  <a:lnTo>
                    <a:pt x="2643" y="2656"/>
                  </a:lnTo>
                  <a:lnTo>
                    <a:pt x="1853" y="2656"/>
                  </a:lnTo>
                  <a:lnTo>
                    <a:pt x="1853" y="2254"/>
                  </a:lnTo>
                  <a:cubicBezTo>
                    <a:pt x="1853" y="2118"/>
                    <a:pt x="1730" y="1992"/>
                    <a:pt x="1590" y="1992"/>
                  </a:cubicBezTo>
                  <a:lnTo>
                    <a:pt x="262" y="1992"/>
                  </a:lnTo>
                  <a:cubicBezTo>
                    <a:pt x="110" y="1992"/>
                    <a:pt x="0" y="2118"/>
                    <a:pt x="0" y="2254"/>
                  </a:cubicBezTo>
                  <a:lnTo>
                    <a:pt x="0" y="3582"/>
                  </a:lnTo>
                  <a:cubicBezTo>
                    <a:pt x="0" y="3735"/>
                    <a:pt x="110" y="3844"/>
                    <a:pt x="262" y="3844"/>
                  </a:cubicBezTo>
                  <a:lnTo>
                    <a:pt x="1590" y="3844"/>
                  </a:lnTo>
                  <a:cubicBezTo>
                    <a:pt x="1730" y="3844"/>
                    <a:pt x="1853" y="3735"/>
                    <a:pt x="1853" y="3582"/>
                  </a:cubicBezTo>
                  <a:lnTo>
                    <a:pt x="1853" y="3180"/>
                  </a:lnTo>
                  <a:lnTo>
                    <a:pt x="2643" y="3180"/>
                  </a:lnTo>
                  <a:lnTo>
                    <a:pt x="2643" y="3983"/>
                  </a:lnTo>
                  <a:lnTo>
                    <a:pt x="2254" y="3983"/>
                  </a:lnTo>
                  <a:cubicBezTo>
                    <a:pt x="2101" y="3983"/>
                    <a:pt x="1979" y="4093"/>
                    <a:pt x="1979" y="4246"/>
                  </a:cubicBezTo>
                  <a:lnTo>
                    <a:pt x="1979" y="5574"/>
                  </a:lnTo>
                  <a:cubicBezTo>
                    <a:pt x="1979" y="5713"/>
                    <a:pt x="2101" y="5836"/>
                    <a:pt x="2254" y="5836"/>
                  </a:cubicBezTo>
                  <a:lnTo>
                    <a:pt x="3569" y="5836"/>
                  </a:lnTo>
                  <a:cubicBezTo>
                    <a:pt x="3721" y="5836"/>
                    <a:pt x="3831" y="5713"/>
                    <a:pt x="3831" y="5574"/>
                  </a:cubicBezTo>
                  <a:lnTo>
                    <a:pt x="3831" y="4246"/>
                  </a:lnTo>
                  <a:cubicBezTo>
                    <a:pt x="3831" y="4093"/>
                    <a:pt x="3721" y="3983"/>
                    <a:pt x="3569" y="3983"/>
                  </a:cubicBezTo>
                  <a:lnTo>
                    <a:pt x="3180" y="3983"/>
                  </a:lnTo>
                  <a:lnTo>
                    <a:pt x="3180" y="3180"/>
                  </a:lnTo>
                  <a:lnTo>
                    <a:pt x="3970" y="3180"/>
                  </a:lnTo>
                  <a:lnTo>
                    <a:pt x="3970" y="3582"/>
                  </a:lnTo>
                  <a:cubicBezTo>
                    <a:pt x="3970" y="3735"/>
                    <a:pt x="4093" y="3844"/>
                    <a:pt x="4233" y="3844"/>
                  </a:cubicBezTo>
                  <a:lnTo>
                    <a:pt x="5560" y="3844"/>
                  </a:lnTo>
                  <a:cubicBezTo>
                    <a:pt x="5713" y="3844"/>
                    <a:pt x="5823" y="3735"/>
                    <a:pt x="5823" y="3582"/>
                  </a:cubicBezTo>
                  <a:lnTo>
                    <a:pt x="5823" y="2254"/>
                  </a:lnTo>
                  <a:cubicBezTo>
                    <a:pt x="5823" y="2118"/>
                    <a:pt x="5713" y="1992"/>
                    <a:pt x="5560" y="1992"/>
                  </a:cubicBezTo>
                  <a:lnTo>
                    <a:pt x="4233" y="1992"/>
                  </a:lnTo>
                  <a:cubicBezTo>
                    <a:pt x="4093" y="1992"/>
                    <a:pt x="3970" y="2118"/>
                    <a:pt x="3970" y="2254"/>
                  </a:cubicBezTo>
                  <a:lnTo>
                    <a:pt x="3970" y="2656"/>
                  </a:lnTo>
                  <a:lnTo>
                    <a:pt x="3180" y="2656"/>
                  </a:lnTo>
                  <a:lnTo>
                    <a:pt x="3180" y="1869"/>
                  </a:lnTo>
                  <a:lnTo>
                    <a:pt x="3569" y="1869"/>
                  </a:lnTo>
                  <a:cubicBezTo>
                    <a:pt x="3721" y="1869"/>
                    <a:pt x="3831" y="1743"/>
                    <a:pt x="3831" y="1590"/>
                  </a:cubicBezTo>
                  <a:lnTo>
                    <a:pt x="3831" y="276"/>
                  </a:lnTo>
                  <a:cubicBezTo>
                    <a:pt x="3831" y="126"/>
                    <a:pt x="3721" y="0"/>
                    <a:pt x="3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3371900" y="3313500"/>
              <a:ext cx="65025" cy="13150"/>
            </a:xfrm>
            <a:custGeom>
              <a:avLst/>
              <a:gdLst/>
              <a:ahLst/>
              <a:cxnLst/>
              <a:rect l="l" t="t" r="r" b="b"/>
              <a:pathLst>
                <a:path w="2601" h="526" extrusionOk="0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338" y="525"/>
                  </a:lnTo>
                  <a:cubicBezTo>
                    <a:pt x="2491" y="525"/>
                    <a:pt x="2600" y="416"/>
                    <a:pt x="2600" y="263"/>
                  </a:cubicBezTo>
                  <a:cubicBezTo>
                    <a:pt x="2600" y="123"/>
                    <a:pt x="2491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3371900" y="3341150"/>
              <a:ext cx="37375" cy="13550"/>
            </a:xfrm>
            <a:custGeom>
              <a:avLst/>
              <a:gdLst/>
              <a:ahLst/>
              <a:cxnLst/>
              <a:rect l="l" t="t" r="r" b="b"/>
              <a:pathLst>
                <a:path w="1495" h="542" extrusionOk="0">
                  <a:moveTo>
                    <a:pt x="346" y="0"/>
                  </a:moveTo>
                  <a:cubicBezTo>
                    <a:pt x="1" y="13"/>
                    <a:pt x="1" y="524"/>
                    <a:pt x="346" y="541"/>
                  </a:cubicBezTo>
                  <a:lnTo>
                    <a:pt x="1203" y="541"/>
                  </a:lnTo>
                  <a:cubicBezTo>
                    <a:pt x="1342" y="541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3371900" y="3285775"/>
              <a:ext cx="65775" cy="13225"/>
            </a:xfrm>
            <a:custGeom>
              <a:avLst/>
              <a:gdLst/>
              <a:ahLst/>
              <a:cxnLst/>
              <a:rect l="l" t="t" r="r" b="b"/>
              <a:pathLst>
                <a:path w="2631" h="529" extrusionOk="0">
                  <a:moveTo>
                    <a:pt x="346" y="1"/>
                  </a:moveTo>
                  <a:cubicBezTo>
                    <a:pt x="1" y="17"/>
                    <a:pt x="1" y="515"/>
                    <a:pt x="346" y="529"/>
                  </a:cubicBezTo>
                  <a:lnTo>
                    <a:pt x="2325" y="529"/>
                  </a:lnTo>
                  <a:cubicBezTo>
                    <a:pt x="2464" y="529"/>
                    <a:pt x="2587" y="432"/>
                    <a:pt x="2600" y="306"/>
                  </a:cubicBezTo>
                  <a:cubicBezTo>
                    <a:pt x="2630" y="140"/>
                    <a:pt x="2504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3454575" y="3313500"/>
              <a:ext cx="65325" cy="13150"/>
            </a:xfrm>
            <a:custGeom>
              <a:avLst/>
              <a:gdLst/>
              <a:ahLst/>
              <a:cxnLst/>
              <a:rect l="l" t="t" r="r" b="b"/>
              <a:pathLst>
                <a:path w="2613" h="526" extrusionOk="0">
                  <a:moveTo>
                    <a:pt x="359" y="1"/>
                  </a:moveTo>
                  <a:cubicBezTo>
                    <a:pt x="0" y="14"/>
                    <a:pt x="0" y="512"/>
                    <a:pt x="359" y="525"/>
                  </a:cubicBezTo>
                  <a:lnTo>
                    <a:pt x="2337" y="525"/>
                  </a:lnTo>
                  <a:cubicBezTo>
                    <a:pt x="2490" y="525"/>
                    <a:pt x="2613" y="416"/>
                    <a:pt x="2613" y="263"/>
                  </a:cubicBezTo>
                  <a:cubicBezTo>
                    <a:pt x="2613" y="123"/>
                    <a:pt x="2490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3454575" y="3285775"/>
              <a:ext cx="65675" cy="13225"/>
            </a:xfrm>
            <a:custGeom>
              <a:avLst/>
              <a:gdLst/>
              <a:ahLst/>
              <a:cxnLst/>
              <a:rect l="l" t="t" r="r" b="b"/>
              <a:pathLst>
                <a:path w="2627" h="529" extrusionOk="0">
                  <a:moveTo>
                    <a:pt x="359" y="1"/>
                  </a:moveTo>
                  <a:cubicBezTo>
                    <a:pt x="0" y="17"/>
                    <a:pt x="0" y="515"/>
                    <a:pt x="359" y="529"/>
                  </a:cubicBezTo>
                  <a:lnTo>
                    <a:pt x="2337" y="529"/>
                  </a:lnTo>
                  <a:cubicBezTo>
                    <a:pt x="2460" y="529"/>
                    <a:pt x="2586" y="432"/>
                    <a:pt x="2599" y="306"/>
                  </a:cubicBezTo>
                  <a:cubicBezTo>
                    <a:pt x="2626" y="140"/>
                    <a:pt x="2503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3484600" y="3341150"/>
              <a:ext cx="37375" cy="13550"/>
            </a:xfrm>
            <a:custGeom>
              <a:avLst/>
              <a:gdLst/>
              <a:ahLst/>
              <a:cxnLst/>
              <a:rect l="l" t="t" r="r" b="b"/>
              <a:pathLst>
                <a:path w="1495" h="542" extrusionOk="0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41"/>
                    <a:pt x="280" y="541"/>
                  </a:cubicBezTo>
                  <a:lnTo>
                    <a:pt x="1136" y="541"/>
                  </a:lnTo>
                  <a:cubicBezTo>
                    <a:pt x="1495" y="524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3371900" y="3473600"/>
              <a:ext cx="37375" cy="13450"/>
            </a:xfrm>
            <a:custGeom>
              <a:avLst/>
              <a:gdLst/>
              <a:ahLst/>
              <a:cxnLst/>
              <a:rect l="l" t="t" r="r" b="b"/>
              <a:pathLst>
                <a:path w="1495" h="538" extrusionOk="0">
                  <a:moveTo>
                    <a:pt x="346" y="0"/>
                  </a:moveTo>
                  <a:cubicBezTo>
                    <a:pt x="1" y="13"/>
                    <a:pt x="1" y="525"/>
                    <a:pt x="346" y="538"/>
                  </a:cubicBezTo>
                  <a:lnTo>
                    <a:pt x="1203" y="538"/>
                  </a:lnTo>
                  <a:cubicBezTo>
                    <a:pt x="1342" y="538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7" name="Google Shape;857;p38"/>
            <p:cNvSpPr/>
            <p:nvPr/>
          </p:nvSpPr>
          <p:spPr>
            <a:xfrm>
              <a:off x="3484600" y="3473600"/>
              <a:ext cx="37375" cy="13450"/>
            </a:xfrm>
            <a:custGeom>
              <a:avLst/>
              <a:gdLst/>
              <a:ahLst/>
              <a:cxnLst/>
              <a:rect l="l" t="t" r="r" b="b"/>
              <a:pathLst>
                <a:path w="1495" h="538" extrusionOk="0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38"/>
                    <a:pt x="280" y="538"/>
                  </a:cubicBezTo>
                  <a:lnTo>
                    <a:pt x="1136" y="538"/>
                  </a:lnTo>
                  <a:cubicBezTo>
                    <a:pt x="1495" y="525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58" name="Google Shape;858;p38"/>
          <p:cNvGrpSpPr/>
          <p:nvPr/>
        </p:nvGrpSpPr>
        <p:grpSpPr>
          <a:xfrm>
            <a:off x="4860647" y="1342988"/>
            <a:ext cx="338875" cy="339300"/>
            <a:chOff x="2518850" y="3256400"/>
            <a:chExt cx="338875" cy="339300"/>
          </a:xfrm>
        </p:grpSpPr>
        <p:sp>
          <p:nvSpPr>
            <p:cNvPr id="859" name="Google Shape;859;p38"/>
            <p:cNvSpPr/>
            <p:nvPr/>
          </p:nvSpPr>
          <p:spPr>
            <a:xfrm>
              <a:off x="2518850" y="3256400"/>
              <a:ext cx="338875" cy="339300"/>
            </a:xfrm>
            <a:custGeom>
              <a:avLst/>
              <a:gdLst/>
              <a:ahLst/>
              <a:cxnLst/>
              <a:rect l="l" t="t" r="r" b="b"/>
              <a:pathLst>
                <a:path w="13555" h="13572" extrusionOk="0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25838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25838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2" name="Google Shape;862;p38"/>
            <p:cNvSpPr/>
            <p:nvPr/>
          </p:nvSpPr>
          <p:spPr>
            <a:xfrm>
              <a:off x="26955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26955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64" name="Google Shape;864;p38"/>
          <p:cNvGrpSpPr/>
          <p:nvPr/>
        </p:nvGrpSpPr>
        <p:grpSpPr>
          <a:xfrm>
            <a:off x="2435860" y="2805838"/>
            <a:ext cx="339200" cy="304700"/>
            <a:chOff x="2489475" y="2699700"/>
            <a:chExt cx="339200" cy="304700"/>
          </a:xfrm>
        </p:grpSpPr>
        <p:sp>
          <p:nvSpPr>
            <p:cNvPr id="865" name="Google Shape;865;p38"/>
            <p:cNvSpPr/>
            <p:nvPr/>
          </p:nvSpPr>
          <p:spPr>
            <a:xfrm>
              <a:off x="2489475" y="2699700"/>
              <a:ext cx="339200" cy="304700"/>
            </a:xfrm>
            <a:custGeom>
              <a:avLst/>
              <a:gdLst/>
              <a:ahLst/>
              <a:cxnLst/>
              <a:rect l="l" t="t" r="r" b="b"/>
              <a:pathLst>
                <a:path w="13568" h="12188" extrusionOk="0">
                  <a:moveTo>
                    <a:pt x="12765" y="539"/>
                  </a:moveTo>
                  <a:cubicBezTo>
                    <a:pt x="12917" y="539"/>
                    <a:pt x="13043" y="652"/>
                    <a:pt x="13043" y="804"/>
                  </a:cubicBezTo>
                  <a:lnTo>
                    <a:pt x="13043" y="1067"/>
                  </a:lnTo>
                  <a:lnTo>
                    <a:pt x="4509" y="1067"/>
                  </a:lnTo>
                  <a:cubicBezTo>
                    <a:pt x="4356" y="1067"/>
                    <a:pt x="4246" y="1189"/>
                    <a:pt x="4246" y="1329"/>
                  </a:cubicBezTo>
                  <a:cubicBezTo>
                    <a:pt x="4246" y="1770"/>
                    <a:pt x="3885" y="2132"/>
                    <a:pt x="3443" y="2132"/>
                  </a:cubicBezTo>
                  <a:lnTo>
                    <a:pt x="539" y="2132"/>
                  </a:lnTo>
                  <a:lnTo>
                    <a:pt x="539" y="804"/>
                  </a:lnTo>
                  <a:cubicBezTo>
                    <a:pt x="539" y="652"/>
                    <a:pt x="648" y="539"/>
                    <a:pt x="801" y="539"/>
                  </a:cubicBezTo>
                  <a:close/>
                  <a:moveTo>
                    <a:pt x="13043" y="1591"/>
                  </a:moveTo>
                  <a:lnTo>
                    <a:pt x="13043" y="11397"/>
                  </a:lnTo>
                  <a:cubicBezTo>
                    <a:pt x="13043" y="11537"/>
                    <a:pt x="12917" y="11659"/>
                    <a:pt x="12765" y="11659"/>
                  </a:cubicBezTo>
                  <a:lnTo>
                    <a:pt x="801" y="11659"/>
                  </a:lnTo>
                  <a:cubicBezTo>
                    <a:pt x="648" y="11659"/>
                    <a:pt x="539" y="11537"/>
                    <a:pt x="539" y="11397"/>
                  </a:cubicBezTo>
                  <a:lnTo>
                    <a:pt x="539" y="2657"/>
                  </a:lnTo>
                  <a:lnTo>
                    <a:pt x="3443" y="2657"/>
                  </a:lnTo>
                  <a:cubicBezTo>
                    <a:pt x="4094" y="2657"/>
                    <a:pt x="4618" y="2199"/>
                    <a:pt x="4744" y="1591"/>
                  </a:cubicBezTo>
                  <a:close/>
                  <a:moveTo>
                    <a:pt x="801" y="1"/>
                  </a:moveTo>
                  <a:cubicBezTo>
                    <a:pt x="359" y="1"/>
                    <a:pt x="1" y="360"/>
                    <a:pt x="1" y="804"/>
                  </a:cubicBezTo>
                  <a:lnTo>
                    <a:pt x="1" y="11397"/>
                  </a:lnTo>
                  <a:cubicBezTo>
                    <a:pt x="1" y="11842"/>
                    <a:pt x="359" y="12187"/>
                    <a:pt x="801" y="12187"/>
                  </a:cubicBezTo>
                  <a:lnTo>
                    <a:pt x="12765" y="12187"/>
                  </a:lnTo>
                  <a:cubicBezTo>
                    <a:pt x="13209" y="12187"/>
                    <a:pt x="13568" y="11842"/>
                    <a:pt x="13568" y="11397"/>
                  </a:cubicBezTo>
                  <a:lnTo>
                    <a:pt x="13568" y="804"/>
                  </a:lnTo>
                  <a:cubicBezTo>
                    <a:pt x="13568" y="360"/>
                    <a:pt x="13209" y="1"/>
                    <a:pt x="12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6" name="Google Shape;866;p38"/>
            <p:cNvSpPr/>
            <p:nvPr/>
          </p:nvSpPr>
          <p:spPr>
            <a:xfrm>
              <a:off x="2568975" y="2726100"/>
              <a:ext cx="13475" cy="13400"/>
            </a:xfrm>
            <a:custGeom>
              <a:avLst/>
              <a:gdLst/>
              <a:ahLst/>
              <a:cxnLst/>
              <a:rect l="l" t="t" r="r" b="b"/>
              <a:pathLst>
                <a:path w="539" h="536" extrusionOk="0">
                  <a:moveTo>
                    <a:pt x="270" y="1"/>
                  </a:moveTo>
                  <a:cubicBezTo>
                    <a:pt x="139" y="1"/>
                    <a:pt x="8" y="87"/>
                    <a:pt x="1" y="260"/>
                  </a:cubicBezTo>
                  <a:cubicBezTo>
                    <a:pt x="1" y="412"/>
                    <a:pt x="124" y="535"/>
                    <a:pt x="263" y="535"/>
                  </a:cubicBezTo>
                  <a:cubicBezTo>
                    <a:pt x="416" y="535"/>
                    <a:pt x="539" y="412"/>
                    <a:pt x="539" y="260"/>
                  </a:cubicBezTo>
                  <a:cubicBezTo>
                    <a:pt x="532" y="87"/>
                    <a:pt x="401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7" name="Google Shape;867;p38"/>
            <p:cNvSpPr/>
            <p:nvPr/>
          </p:nvSpPr>
          <p:spPr>
            <a:xfrm>
              <a:off x="2542675" y="2726100"/>
              <a:ext cx="13225" cy="13400"/>
            </a:xfrm>
            <a:custGeom>
              <a:avLst/>
              <a:gdLst/>
              <a:ahLst/>
              <a:cxnLst/>
              <a:rect l="l" t="t" r="r" b="b"/>
              <a:pathLst>
                <a:path w="529" h="536" extrusionOk="0">
                  <a:moveTo>
                    <a:pt x="263" y="1"/>
                  </a:moveTo>
                  <a:cubicBezTo>
                    <a:pt x="135" y="1"/>
                    <a:pt x="7" y="87"/>
                    <a:pt x="1" y="260"/>
                  </a:cubicBezTo>
                  <a:cubicBezTo>
                    <a:pt x="1" y="412"/>
                    <a:pt x="113" y="535"/>
                    <a:pt x="263" y="535"/>
                  </a:cubicBezTo>
                  <a:cubicBezTo>
                    <a:pt x="402" y="535"/>
                    <a:pt x="528" y="412"/>
                    <a:pt x="528" y="260"/>
                  </a:cubicBezTo>
                  <a:cubicBezTo>
                    <a:pt x="520" y="87"/>
                    <a:pt x="391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8" name="Google Shape;868;p38"/>
            <p:cNvSpPr/>
            <p:nvPr/>
          </p:nvSpPr>
          <p:spPr>
            <a:xfrm>
              <a:off x="2516050" y="2726100"/>
              <a:ext cx="13200" cy="13400"/>
            </a:xfrm>
            <a:custGeom>
              <a:avLst/>
              <a:gdLst/>
              <a:ahLst/>
              <a:cxnLst/>
              <a:rect l="l" t="t" r="r" b="b"/>
              <a:pathLst>
                <a:path w="528" h="536" extrusionOk="0">
                  <a:moveTo>
                    <a:pt x="265" y="1"/>
                  </a:moveTo>
                  <a:cubicBezTo>
                    <a:pt x="137" y="1"/>
                    <a:pt x="8" y="87"/>
                    <a:pt x="0" y="260"/>
                  </a:cubicBezTo>
                  <a:cubicBezTo>
                    <a:pt x="0" y="412"/>
                    <a:pt x="126" y="535"/>
                    <a:pt x="266" y="535"/>
                  </a:cubicBezTo>
                  <a:cubicBezTo>
                    <a:pt x="415" y="535"/>
                    <a:pt x="528" y="412"/>
                    <a:pt x="528" y="260"/>
                  </a:cubicBezTo>
                  <a:cubicBezTo>
                    <a:pt x="521" y="87"/>
                    <a:pt x="393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9" name="Google Shape;869;p38"/>
            <p:cNvSpPr/>
            <p:nvPr/>
          </p:nvSpPr>
          <p:spPr>
            <a:xfrm>
              <a:off x="2516050" y="2779225"/>
              <a:ext cx="286000" cy="198850"/>
            </a:xfrm>
            <a:custGeom>
              <a:avLst/>
              <a:gdLst/>
              <a:ahLst/>
              <a:cxnLst/>
              <a:rect l="l" t="t" r="r" b="b"/>
              <a:pathLst>
                <a:path w="11440" h="7954" extrusionOk="0">
                  <a:moveTo>
                    <a:pt x="10915" y="528"/>
                  </a:moveTo>
                  <a:lnTo>
                    <a:pt x="10915" y="7416"/>
                  </a:lnTo>
                  <a:lnTo>
                    <a:pt x="528" y="7416"/>
                  </a:lnTo>
                  <a:lnTo>
                    <a:pt x="528" y="528"/>
                  </a:lnTo>
                  <a:close/>
                  <a:moveTo>
                    <a:pt x="266" y="0"/>
                  </a:moveTo>
                  <a:cubicBezTo>
                    <a:pt x="126" y="0"/>
                    <a:pt x="0" y="126"/>
                    <a:pt x="0" y="262"/>
                  </a:cubicBezTo>
                  <a:lnTo>
                    <a:pt x="0" y="7678"/>
                  </a:lnTo>
                  <a:cubicBezTo>
                    <a:pt x="0" y="7831"/>
                    <a:pt x="126" y="7954"/>
                    <a:pt x="266" y="7954"/>
                  </a:cubicBezTo>
                  <a:lnTo>
                    <a:pt x="11177" y="7954"/>
                  </a:lnTo>
                  <a:cubicBezTo>
                    <a:pt x="11330" y="7954"/>
                    <a:pt x="11439" y="7831"/>
                    <a:pt x="11439" y="7678"/>
                  </a:cubicBezTo>
                  <a:lnTo>
                    <a:pt x="11439" y="262"/>
                  </a:lnTo>
                  <a:cubicBezTo>
                    <a:pt x="11439" y="126"/>
                    <a:pt x="11330" y="0"/>
                    <a:pt x="1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0" name="Google Shape;870;p38"/>
            <p:cNvSpPr/>
            <p:nvPr/>
          </p:nvSpPr>
          <p:spPr>
            <a:xfrm>
              <a:off x="2538525" y="2805850"/>
              <a:ext cx="235225" cy="145600"/>
            </a:xfrm>
            <a:custGeom>
              <a:avLst/>
              <a:gdLst/>
              <a:ahLst/>
              <a:cxnLst/>
              <a:rect l="l" t="t" r="r" b="b"/>
              <a:pathLst>
                <a:path w="9409" h="5824" extrusionOk="0">
                  <a:moveTo>
                    <a:pt x="6032" y="512"/>
                  </a:moveTo>
                  <a:cubicBezTo>
                    <a:pt x="6225" y="512"/>
                    <a:pt x="6378" y="665"/>
                    <a:pt x="6378" y="857"/>
                  </a:cubicBezTo>
                  <a:cubicBezTo>
                    <a:pt x="6371" y="1086"/>
                    <a:pt x="6205" y="1201"/>
                    <a:pt x="6039" y="1201"/>
                  </a:cubicBezTo>
                  <a:cubicBezTo>
                    <a:pt x="5873" y="1201"/>
                    <a:pt x="5707" y="1086"/>
                    <a:pt x="5700" y="857"/>
                  </a:cubicBezTo>
                  <a:cubicBezTo>
                    <a:pt x="5700" y="665"/>
                    <a:pt x="5853" y="512"/>
                    <a:pt x="6032" y="512"/>
                  </a:cubicBezTo>
                  <a:close/>
                  <a:moveTo>
                    <a:pt x="1192" y="1481"/>
                  </a:moveTo>
                  <a:cubicBezTo>
                    <a:pt x="1385" y="1481"/>
                    <a:pt x="1538" y="1647"/>
                    <a:pt x="1538" y="1826"/>
                  </a:cubicBezTo>
                  <a:cubicBezTo>
                    <a:pt x="1531" y="2056"/>
                    <a:pt x="1365" y="2170"/>
                    <a:pt x="1199" y="2170"/>
                  </a:cubicBezTo>
                  <a:cubicBezTo>
                    <a:pt x="1033" y="2170"/>
                    <a:pt x="867" y="2056"/>
                    <a:pt x="860" y="1826"/>
                  </a:cubicBezTo>
                  <a:cubicBezTo>
                    <a:pt x="844" y="1647"/>
                    <a:pt x="1010" y="1481"/>
                    <a:pt x="1192" y="1481"/>
                  </a:cubicBezTo>
                  <a:close/>
                  <a:moveTo>
                    <a:pt x="3612" y="2949"/>
                  </a:moveTo>
                  <a:cubicBezTo>
                    <a:pt x="3805" y="2949"/>
                    <a:pt x="3958" y="3098"/>
                    <a:pt x="3958" y="3280"/>
                  </a:cubicBezTo>
                  <a:cubicBezTo>
                    <a:pt x="3951" y="3508"/>
                    <a:pt x="3785" y="3622"/>
                    <a:pt x="3619" y="3622"/>
                  </a:cubicBezTo>
                  <a:cubicBezTo>
                    <a:pt x="3453" y="3622"/>
                    <a:pt x="3287" y="3508"/>
                    <a:pt x="3280" y="3280"/>
                  </a:cubicBezTo>
                  <a:cubicBezTo>
                    <a:pt x="3280" y="3098"/>
                    <a:pt x="3433" y="2949"/>
                    <a:pt x="3612" y="2949"/>
                  </a:cubicBezTo>
                  <a:close/>
                  <a:moveTo>
                    <a:pt x="8452" y="2949"/>
                  </a:moveTo>
                  <a:cubicBezTo>
                    <a:pt x="8645" y="2949"/>
                    <a:pt x="8798" y="3098"/>
                    <a:pt x="8798" y="3280"/>
                  </a:cubicBezTo>
                  <a:cubicBezTo>
                    <a:pt x="8798" y="3473"/>
                    <a:pt x="8645" y="3626"/>
                    <a:pt x="8452" y="3626"/>
                  </a:cubicBezTo>
                  <a:cubicBezTo>
                    <a:pt x="8011" y="3612"/>
                    <a:pt x="8011" y="2962"/>
                    <a:pt x="8452" y="2949"/>
                  </a:cubicBezTo>
                  <a:close/>
                  <a:moveTo>
                    <a:pt x="1773" y="2490"/>
                  </a:moveTo>
                  <a:lnTo>
                    <a:pt x="2769" y="3085"/>
                  </a:lnTo>
                  <a:cubicBezTo>
                    <a:pt x="2656" y="3529"/>
                    <a:pt x="2935" y="3997"/>
                    <a:pt x="3333" y="4124"/>
                  </a:cubicBezTo>
                  <a:lnTo>
                    <a:pt x="3333" y="5299"/>
                  </a:lnTo>
                  <a:lnTo>
                    <a:pt x="1468" y="5299"/>
                  </a:lnTo>
                  <a:lnTo>
                    <a:pt x="1468" y="2670"/>
                  </a:lnTo>
                  <a:cubicBezTo>
                    <a:pt x="1577" y="2630"/>
                    <a:pt x="1674" y="2573"/>
                    <a:pt x="1773" y="2490"/>
                  </a:cubicBezTo>
                  <a:close/>
                  <a:moveTo>
                    <a:pt x="5644" y="1647"/>
                  </a:moveTo>
                  <a:cubicBezTo>
                    <a:pt x="5687" y="1661"/>
                    <a:pt x="5727" y="1687"/>
                    <a:pt x="5783" y="1704"/>
                  </a:cubicBezTo>
                  <a:lnTo>
                    <a:pt x="5783" y="5299"/>
                  </a:lnTo>
                  <a:lnTo>
                    <a:pt x="3901" y="5299"/>
                  </a:lnTo>
                  <a:lnTo>
                    <a:pt x="3901" y="4124"/>
                  </a:lnTo>
                  <a:cubicBezTo>
                    <a:pt x="4246" y="4011"/>
                    <a:pt x="4495" y="3679"/>
                    <a:pt x="4495" y="3294"/>
                  </a:cubicBezTo>
                  <a:cubicBezTo>
                    <a:pt x="4495" y="3141"/>
                    <a:pt x="4469" y="3015"/>
                    <a:pt x="4399" y="2892"/>
                  </a:cubicBezTo>
                  <a:lnTo>
                    <a:pt x="5644" y="1647"/>
                  </a:lnTo>
                  <a:close/>
                  <a:moveTo>
                    <a:pt x="6447" y="1647"/>
                  </a:moveTo>
                  <a:lnTo>
                    <a:pt x="7679" y="2892"/>
                  </a:lnTo>
                  <a:cubicBezTo>
                    <a:pt x="7430" y="3363"/>
                    <a:pt x="7692" y="3971"/>
                    <a:pt x="8190" y="4124"/>
                  </a:cubicBezTo>
                  <a:lnTo>
                    <a:pt x="8190" y="5299"/>
                  </a:lnTo>
                  <a:lnTo>
                    <a:pt x="6308" y="5299"/>
                  </a:lnTo>
                  <a:lnTo>
                    <a:pt x="6308" y="1704"/>
                  </a:lnTo>
                  <a:cubicBezTo>
                    <a:pt x="6351" y="1687"/>
                    <a:pt x="6404" y="1661"/>
                    <a:pt x="6447" y="1647"/>
                  </a:cubicBezTo>
                  <a:close/>
                  <a:moveTo>
                    <a:pt x="6015" y="1"/>
                  </a:moveTo>
                  <a:cubicBezTo>
                    <a:pt x="5387" y="1"/>
                    <a:pt x="4956" y="713"/>
                    <a:pt x="5259" y="1259"/>
                  </a:cubicBezTo>
                  <a:lnTo>
                    <a:pt x="4014" y="2517"/>
                  </a:lnTo>
                  <a:cubicBezTo>
                    <a:pt x="3894" y="2452"/>
                    <a:pt x="3757" y="2421"/>
                    <a:pt x="3620" y="2421"/>
                  </a:cubicBezTo>
                  <a:cubicBezTo>
                    <a:pt x="3408" y="2421"/>
                    <a:pt x="3196" y="2495"/>
                    <a:pt x="3045" y="2630"/>
                  </a:cubicBezTo>
                  <a:lnTo>
                    <a:pt x="2049" y="2036"/>
                  </a:lnTo>
                  <a:cubicBezTo>
                    <a:pt x="2170" y="1501"/>
                    <a:pt x="1754" y="970"/>
                    <a:pt x="1212" y="970"/>
                  </a:cubicBezTo>
                  <a:cubicBezTo>
                    <a:pt x="1206" y="970"/>
                    <a:pt x="1199" y="970"/>
                    <a:pt x="1192" y="970"/>
                  </a:cubicBezTo>
                  <a:cubicBezTo>
                    <a:pt x="196" y="983"/>
                    <a:pt x="1" y="2351"/>
                    <a:pt x="927" y="2670"/>
                  </a:cubicBezTo>
                  <a:lnTo>
                    <a:pt x="927" y="5299"/>
                  </a:lnTo>
                  <a:lnTo>
                    <a:pt x="595" y="5299"/>
                  </a:lnTo>
                  <a:cubicBezTo>
                    <a:pt x="236" y="5312"/>
                    <a:pt x="236" y="5810"/>
                    <a:pt x="595" y="5823"/>
                  </a:cubicBezTo>
                  <a:lnTo>
                    <a:pt x="9060" y="5823"/>
                  </a:lnTo>
                  <a:cubicBezTo>
                    <a:pt x="9408" y="5810"/>
                    <a:pt x="9408" y="5312"/>
                    <a:pt x="9060" y="5299"/>
                  </a:cubicBezTo>
                  <a:lnTo>
                    <a:pt x="8715" y="5299"/>
                  </a:lnTo>
                  <a:lnTo>
                    <a:pt x="8715" y="4124"/>
                  </a:lnTo>
                  <a:cubicBezTo>
                    <a:pt x="9076" y="4011"/>
                    <a:pt x="9325" y="3679"/>
                    <a:pt x="9325" y="3294"/>
                  </a:cubicBezTo>
                  <a:cubicBezTo>
                    <a:pt x="9336" y="2789"/>
                    <a:pt x="8905" y="2418"/>
                    <a:pt x="8446" y="2418"/>
                  </a:cubicBezTo>
                  <a:cubicBezTo>
                    <a:pt x="8313" y="2418"/>
                    <a:pt x="8178" y="2449"/>
                    <a:pt x="8051" y="2517"/>
                  </a:cubicBezTo>
                  <a:lnTo>
                    <a:pt x="6806" y="1259"/>
                  </a:lnTo>
                  <a:cubicBezTo>
                    <a:pt x="7108" y="713"/>
                    <a:pt x="6678" y="1"/>
                    <a:pt x="6050" y="1"/>
                  </a:cubicBezTo>
                  <a:cubicBezTo>
                    <a:pt x="6044" y="1"/>
                    <a:pt x="6038" y="1"/>
                    <a:pt x="6032" y="1"/>
                  </a:cubicBezTo>
                  <a:cubicBezTo>
                    <a:pt x="6027" y="1"/>
                    <a:pt x="6021" y="1"/>
                    <a:pt x="6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24" name="Google Shape;824;p38"/>
          <p:cNvSpPr txBox="1">
            <a:spLocks noGrp="1"/>
          </p:cNvSpPr>
          <p:nvPr>
            <p:ph type="title" idx="8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 dirty="0"/>
          </a:p>
        </p:txBody>
      </p:sp>
      <p:sp>
        <p:nvSpPr>
          <p:cNvPr id="820" name="Google Shape;820;p38"/>
          <p:cNvSpPr txBox="1">
            <a:spLocks noGrp="1"/>
          </p:cNvSpPr>
          <p:nvPr>
            <p:ph type="title" idx="9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 dirty="0"/>
          </a:p>
        </p:txBody>
      </p:sp>
      <p:sp>
        <p:nvSpPr>
          <p:cNvPr id="827" name="Google Shape;827;p38"/>
          <p:cNvSpPr txBox="1">
            <a:spLocks noGrp="1"/>
          </p:cNvSpPr>
          <p:nvPr>
            <p:ph type="title" idx="13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 dirty="0"/>
          </a:p>
        </p:txBody>
      </p:sp>
      <p:sp>
        <p:nvSpPr>
          <p:cNvPr id="871" name="Google Shape;871;p38"/>
          <p:cNvSpPr txBox="1">
            <a:spLocks noGrp="1"/>
          </p:cNvSpPr>
          <p:nvPr>
            <p:ph type="title" idx="14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 dirty="0"/>
          </a:p>
        </p:txBody>
      </p:sp>
      <p:sp>
        <p:nvSpPr>
          <p:cNvPr id="872" name="Google Shape;872;p38"/>
          <p:cNvSpPr txBox="1">
            <a:spLocks noGrp="1"/>
          </p:cNvSpPr>
          <p:nvPr>
            <p:ph type="title" idx="15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 dirty="0"/>
          </a:p>
        </p:txBody>
      </p:sp>
      <p:sp>
        <p:nvSpPr>
          <p:cNvPr id="817" name="Google Shape;817;p38"/>
          <p:cNvSpPr txBox="1">
            <a:spLocks noGrp="1"/>
          </p:cNvSpPr>
          <p:nvPr>
            <p:ph type="title" idx="7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 dirty="0"/>
          </a:p>
        </p:txBody>
      </p:sp>
      <p:cxnSp>
        <p:nvCxnSpPr>
          <p:cNvPr id="873" name="Google Shape;873;p38"/>
          <p:cNvCxnSpPr>
            <a:stCxn id="872" idx="3"/>
            <a:endCxn id="828" idx="1"/>
          </p:cNvCxnSpPr>
          <p:nvPr/>
        </p:nvCxnSpPr>
        <p:spPr>
          <a:xfrm rot="10800000" flipH="1">
            <a:off x="6806100" y="2958053"/>
            <a:ext cx="304800" cy="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874" name="Google Shape;874;p38"/>
          <p:cNvCxnSpPr>
            <a:stCxn id="871" idx="3"/>
            <a:endCxn id="821" idx="1"/>
          </p:cNvCxnSpPr>
          <p:nvPr/>
        </p:nvCxnSpPr>
        <p:spPr>
          <a:xfrm rot="10800000" flipH="1">
            <a:off x="6806100" y="1512502"/>
            <a:ext cx="304800" cy="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1" name="Google Shape;881;p39"/>
          <p:cNvGrpSpPr/>
          <p:nvPr/>
        </p:nvGrpSpPr>
        <p:grpSpPr>
          <a:xfrm>
            <a:off x="-1555691" y="3874548"/>
            <a:ext cx="3140396" cy="541907"/>
            <a:chOff x="-528216" y="3116173"/>
            <a:chExt cx="3140396" cy="541907"/>
          </a:xfrm>
        </p:grpSpPr>
        <p:grpSp>
          <p:nvGrpSpPr>
            <p:cNvPr id="882" name="Google Shape;882;p39"/>
            <p:cNvGrpSpPr/>
            <p:nvPr/>
          </p:nvGrpSpPr>
          <p:grpSpPr>
            <a:xfrm>
              <a:off x="-528216" y="3434317"/>
              <a:ext cx="2877996" cy="223763"/>
              <a:chOff x="1748550" y="2064750"/>
              <a:chExt cx="3573375" cy="277863"/>
            </a:xfrm>
          </p:grpSpPr>
          <p:sp>
            <p:nvSpPr>
              <p:cNvPr id="883" name="Google Shape;883;p39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4" name="Google Shape;884;p39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85" name="Google Shape;885;p39"/>
            <p:cNvGrpSpPr/>
            <p:nvPr/>
          </p:nvGrpSpPr>
          <p:grpSpPr>
            <a:xfrm>
              <a:off x="-528208" y="3317016"/>
              <a:ext cx="2430741" cy="185537"/>
              <a:chOff x="1748547" y="1392116"/>
              <a:chExt cx="5911958" cy="451312"/>
            </a:xfrm>
          </p:grpSpPr>
          <p:sp>
            <p:nvSpPr>
              <p:cNvPr id="886" name="Google Shape;886;p39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7" name="Google Shape;887;p39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88" name="Google Shape;888;p39"/>
            <p:cNvGrpSpPr/>
            <p:nvPr/>
          </p:nvGrpSpPr>
          <p:grpSpPr>
            <a:xfrm>
              <a:off x="-528216" y="3116173"/>
              <a:ext cx="3140396" cy="45661"/>
              <a:chOff x="1748550" y="1449263"/>
              <a:chExt cx="3899175" cy="56700"/>
            </a:xfrm>
          </p:grpSpPr>
          <p:cxnSp>
            <p:nvCxnSpPr>
              <p:cNvPr id="889" name="Google Shape;889;p39"/>
              <p:cNvCxnSpPr/>
              <p:nvPr/>
            </p:nvCxnSpPr>
            <p:spPr>
              <a:xfrm>
                <a:off x="1748550" y="1477625"/>
                <a:ext cx="3846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90" name="Google Shape;890;p39"/>
              <p:cNvSpPr/>
              <p:nvPr/>
            </p:nvSpPr>
            <p:spPr>
              <a:xfrm>
                <a:off x="5591025" y="1449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891" name="Google Shape;891;p39"/>
          <p:cNvGrpSpPr/>
          <p:nvPr/>
        </p:nvGrpSpPr>
        <p:grpSpPr>
          <a:xfrm flipH="1">
            <a:off x="6378225" y="936479"/>
            <a:ext cx="3094729" cy="1111283"/>
            <a:chOff x="1748550" y="1613039"/>
            <a:chExt cx="3842475" cy="1379962"/>
          </a:xfrm>
        </p:grpSpPr>
        <p:grpSp>
          <p:nvGrpSpPr>
            <p:cNvPr id="892" name="Google Shape;892;p39"/>
            <p:cNvGrpSpPr/>
            <p:nvPr/>
          </p:nvGrpSpPr>
          <p:grpSpPr>
            <a:xfrm>
              <a:off x="1754675" y="2577138"/>
              <a:ext cx="1945675" cy="56700"/>
              <a:chOff x="1754675" y="2661275"/>
              <a:chExt cx="1945675" cy="56700"/>
            </a:xfrm>
          </p:grpSpPr>
          <p:cxnSp>
            <p:nvCxnSpPr>
              <p:cNvPr id="893" name="Google Shape;893;p3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94" name="Google Shape;894;p3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95" name="Google Shape;895;p39"/>
            <p:cNvGrpSpPr/>
            <p:nvPr/>
          </p:nvGrpSpPr>
          <p:grpSpPr>
            <a:xfrm>
              <a:off x="1754616" y="2823901"/>
              <a:ext cx="1938597" cy="169100"/>
              <a:chOff x="1754675" y="2824000"/>
              <a:chExt cx="4728285" cy="412439"/>
            </a:xfrm>
          </p:grpSpPr>
          <p:sp>
            <p:nvSpPr>
              <p:cNvPr id="896" name="Google Shape;896;p3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7" name="Google Shape;897;p3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98" name="Google Shape;898;p39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899" name="Google Shape;899;p3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0" name="Google Shape;900;p3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01" name="Google Shape;901;p39"/>
            <p:cNvGrpSpPr/>
            <p:nvPr/>
          </p:nvGrpSpPr>
          <p:grpSpPr>
            <a:xfrm>
              <a:off x="1748550" y="1758700"/>
              <a:ext cx="3573375" cy="277863"/>
              <a:chOff x="1748550" y="2064750"/>
              <a:chExt cx="3573375" cy="277863"/>
            </a:xfrm>
          </p:grpSpPr>
          <p:sp>
            <p:nvSpPr>
              <p:cNvPr id="902" name="Google Shape;902;p39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3" name="Google Shape;903;p39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04" name="Google Shape;904;p39"/>
            <p:cNvGrpSpPr/>
            <p:nvPr/>
          </p:nvGrpSpPr>
          <p:grpSpPr>
            <a:xfrm>
              <a:off x="1748560" y="1613039"/>
              <a:ext cx="3018055" cy="230395"/>
              <a:chOff x="1748547" y="1392116"/>
              <a:chExt cx="5911958" cy="451312"/>
            </a:xfrm>
          </p:grpSpPr>
          <p:sp>
            <p:nvSpPr>
              <p:cNvPr id="905" name="Google Shape;905;p39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6" name="Google Shape;906;p39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07" name="Google Shape;907;p39"/>
            <p:cNvGrpSpPr/>
            <p:nvPr/>
          </p:nvGrpSpPr>
          <p:grpSpPr>
            <a:xfrm>
              <a:off x="1766900" y="2120038"/>
              <a:ext cx="3737650" cy="56700"/>
              <a:chOff x="1766900" y="2869225"/>
              <a:chExt cx="3737650" cy="56700"/>
            </a:xfrm>
          </p:grpSpPr>
          <p:cxnSp>
            <p:nvCxnSpPr>
              <p:cNvPr id="908" name="Google Shape;908;p3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09" name="Google Shape;909;p3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89" y="1053780"/>
            <a:ext cx="4979030" cy="27168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0330" y="749940"/>
            <a:ext cx="4315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Relationship Between Age and Salary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7872" y="2047762"/>
            <a:ext cx="26205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observe that in general, there is a relationship between age and Salary of </a:t>
            </a:r>
            <a:r>
              <a:rPr lang="en-US" dirty="0" smtClean="0"/>
              <a:t>employee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As </a:t>
            </a:r>
            <a:r>
              <a:rPr lang="en-US" dirty="0"/>
              <a:t>age increases, the Salary also increases , though there are some outliers present as well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2500887" y="534749"/>
            <a:ext cx="517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Relationship</a:t>
            </a:r>
            <a:r>
              <a:rPr lang="en-US" dirty="0"/>
              <a:t> </a:t>
            </a:r>
            <a:r>
              <a:rPr lang="en-US" b="1" dirty="0"/>
              <a:t>Between Healthy Eating and Active Lifestyle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908" y="830021"/>
            <a:ext cx="4989537" cy="3164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904" y="1579418"/>
            <a:ext cx="204039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observe that in general, there is a relationship between healthy_eating and active_lifestyle of </a:t>
            </a:r>
            <a:r>
              <a:rPr lang="en-US" dirty="0" smtClean="0"/>
              <a:t>employee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As </a:t>
            </a:r>
            <a:r>
              <a:rPr lang="en-US" dirty="0"/>
              <a:t>healthy_eating increases, the active_lifestyle also increases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Does Healthy Eating Affect Salary?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57" y="1104215"/>
            <a:ext cx="4334245" cy="30105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234609" y="1358348"/>
            <a:ext cx="22661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Positive correlation </a:t>
            </a:r>
            <a:r>
              <a:rPr lang="en-US" dirty="0" smtClean="0"/>
              <a:t>observed.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Employees </a:t>
            </a:r>
            <a:r>
              <a:rPr lang="en-US" dirty="0"/>
              <a:t>with better eating habits tend to earn more.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Distribution of Employee Salaries</a:t>
            </a:r>
            <a:endParaRPr dirty="0"/>
          </a:p>
        </p:txBody>
      </p:sp>
      <p:sp>
        <p:nvSpPr>
          <p:cNvPr id="947" name="Google Shape;947;p42"/>
          <p:cNvSpPr txBox="1">
            <a:spLocks noGrp="1"/>
          </p:cNvSpPr>
          <p:nvPr>
            <p:ph type="subTitle" idx="1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b="1" u="sng" dirty="0"/>
              <a:t>Observation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Salaries </a:t>
            </a:r>
            <a:r>
              <a:rPr lang="en-US" dirty="0"/>
              <a:t>are spread across a wide </a:t>
            </a:r>
            <a:r>
              <a:rPr lang="en-US" dirty="0" smtClean="0"/>
              <a:t>range.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Skewed </a:t>
            </a:r>
            <a:r>
              <a:rPr lang="en-US" dirty="0"/>
              <a:t>with some low earners under 1000.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274" y="1150711"/>
            <a:ext cx="4536227" cy="28351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Employee Group Distribution</a:t>
            </a:r>
            <a:endParaRPr sz="2600" b="0"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433" y="1182650"/>
            <a:ext cx="4813093" cy="21038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4365" y="3631096"/>
            <a:ext cx="61953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Observation:</a:t>
            </a:r>
          </a:p>
          <a:p>
            <a:r>
              <a:rPr lang="en-US" sz="1200" dirty="0" smtClean="0"/>
              <a:t>We </a:t>
            </a:r>
            <a:r>
              <a:rPr lang="en-US" sz="1200" dirty="0"/>
              <a:t>see that most employees either belong to Group A or Group O, with group A having maximum </a:t>
            </a:r>
            <a:r>
              <a:rPr lang="en-US" sz="1200" dirty="0" smtClean="0"/>
              <a:t>frequency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High Healthy Eating + Low Salary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0" y="1093925"/>
            <a:ext cx="4505470" cy="20302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496" y="1936242"/>
            <a:ext cx="4227713" cy="23759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Outlier Case – Salary </a:t>
            </a:r>
            <a:r>
              <a:rPr lang="en-US" dirty="0" err="1"/>
              <a:t>vs</a:t>
            </a:r>
            <a:r>
              <a:rPr lang="en-US" dirty="0"/>
              <a:t> Healthy Eating</a:t>
            </a:r>
          </a:p>
        </p:txBody>
      </p:sp>
      <p:sp>
        <p:nvSpPr>
          <p:cNvPr id="1000" name="Google Shape;1000;p45"/>
          <p:cNvSpPr/>
          <p:nvPr/>
        </p:nvSpPr>
        <p:spPr>
          <a:xfrm>
            <a:off x="764239" y="2663701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1" name="Google Shape;1001;p45"/>
          <p:cNvSpPr/>
          <p:nvPr/>
        </p:nvSpPr>
        <p:spPr>
          <a:xfrm>
            <a:off x="818184" y="1017725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02" name="Google Shape;1002;p45"/>
          <p:cNvGrpSpPr/>
          <p:nvPr/>
        </p:nvGrpSpPr>
        <p:grpSpPr>
          <a:xfrm>
            <a:off x="878301" y="2801426"/>
            <a:ext cx="338875" cy="291550"/>
            <a:chOff x="4775850" y="2706275"/>
            <a:chExt cx="338875" cy="291550"/>
          </a:xfrm>
        </p:grpSpPr>
        <p:sp>
          <p:nvSpPr>
            <p:cNvPr id="1003" name="Google Shape;1003;p45"/>
            <p:cNvSpPr/>
            <p:nvPr/>
          </p:nvSpPr>
          <p:spPr>
            <a:xfrm>
              <a:off x="4775850" y="2706275"/>
              <a:ext cx="338875" cy="291550"/>
            </a:xfrm>
            <a:custGeom>
              <a:avLst/>
              <a:gdLst/>
              <a:ahLst/>
              <a:cxnLst/>
              <a:rect l="l" t="t" r="r" b="b"/>
              <a:pathLst>
                <a:path w="13555" h="11662" extrusionOk="0">
                  <a:moveTo>
                    <a:pt x="11964" y="1590"/>
                  </a:moveTo>
                  <a:lnTo>
                    <a:pt x="11964" y="7954"/>
                  </a:lnTo>
                  <a:lnTo>
                    <a:pt x="1590" y="7954"/>
                  </a:lnTo>
                  <a:lnTo>
                    <a:pt x="1590" y="1590"/>
                  </a:lnTo>
                  <a:close/>
                  <a:moveTo>
                    <a:pt x="12764" y="541"/>
                  </a:moveTo>
                  <a:cubicBezTo>
                    <a:pt x="12904" y="541"/>
                    <a:pt x="13030" y="651"/>
                    <a:pt x="13030" y="804"/>
                  </a:cubicBezTo>
                  <a:lnTo>
                    <a:pt x="13030" y="7954"/>
                  </a:lnTo>
                  <a:lnTo>
                    <a:pt x="12502" y="7954"/>
                  </a:lnTo>
                  <a:lnTo>
                    <a:pt x="12502" y="1328"/>
                  </a:lnTo>
                  <a:cubicBezTo>
                    <a:pt x="12502" y="1189"/>
                    <a:pt x="12379" y="1066"/>
                    <a:pt x="12226" y="1066"/>
                  </a:cubicBezTo>
                  <a:lnTo>
                    <a:pt x="1312" y="1066"/>
                  </a:lnTo>
                  <a:cubicBezTo>
                    <a:pt x="1175" y="1066"/>
                    <a:pt x="1049" y="1189"/>
                    <a:pt x="1049" y="1328"/>
                  </a:cubicBezTo>
                  <a:lnTo>
                    <a:pt x="1049" y="7954"/>
                  </a:lnTo>
                  <a:lnTo>
                    <a:pt x="525" y="7954"/>
                  </a:lnTo>
                  <a:lnTo>
                    <a:pt x="525" y="804"/>
                  </a:lnTo>
                  <a:cubicBezTo>
                    <a:pt x="525" y="651"/>
                    <a:pt x="648" y="541"/>
                    <a:pt x="787" y="541"/>
                  </a:cubicBezTo>
                  <a:close/>
                  <a:moveTo>
                    <a:pt x="13030" y="8478"/>
                  </a:moveTo>
                  <a:lnTo>
                    <a:pt x="13030" y="8741"/>
                  </a:lnTo>
                  <a:cubicBezTo>
                    <a:pt x="13030" y="8893"/>
                    <a:pt x="12904" y="9020"/>
                    <a:pt x="12764" y="9020"/>
                  </a:cubicBezTo>
                  <a:lnTo>
                    <a:pt x="787" y="9020"/>
                  </a:lnTo>
                  <a:cubicBezTo>
                    <a:pt x="648" y="9020"/>
                    <a:pt x="525" y="8893"/>
                    <a:pt x="525" y="8741"/>
                  </a:cubicBezTo>
                  <a:lnTo>
                    <a:pt x="525" y="8478"/>
                  </a:lnTo>
                  <a:close/>
                  <a:moveTo>
                    <a:pt x="7579" y="9544"/>
                  </a:moveTo>
                  <a:lnTo>
                    <a:pt x="8007" y="11134"/>
                  </a:lnTo>
                  <a:lnTo>
                    <a:pt x="5518" y="11134"/>
                  </a:lnTo>
                  <a:lnTo>
                    <a:pt x="5946" y="9544"/>
                  </a:lnTo>
                  <a:close/>
                  <a:moveTo>
                    <a:pt x="787" y="0"/>
                  </a:moveTo>
                  <a:cubicBezTo>
                    <a:pt x="346" y="0"/>
                    <a:pt x="0" y="359"/>
                    <a:pt x="0" y="804"/>
                  </a:cubicBezTo>
                  <a:lnTo>
                    <a:pt x="0" y="8741"/>
                  </a:lnTo>
                  <a:cubicBezTo>
                    <a:pt x="0" y="9186"/>
                    <a:pt x="346" y="9544"/>
                    <a:pt x="787" y="9544"/>
                  </a:cubicBezTo>
                  <a:lnTo>
                    <a:pt x="5408" y="9544"/>
                  </a:lnTo>
                  <a:lnTo>
                    <a:pt x="4980" y="11134"/>
                  </a:lnTo>
                  <a:lnTo>
                    <a:pt x="4648" y="11134"/>
                  </a:lnTo>
                  <a:cubicBezTo>
                    <a:pt x="4286" y="11147"/>
                    <a:pt x="4286" y="11645"/>
                    <a:pt x="4648" y="11662"/>
                  </a:cubicBezTo>
                  <a:lnTo>
                    <a:pt x="8880" y="11662"/>
                  </a:lnTo>
                  <a:cubicBezTo>
                    <a:pt x="9225" y="11645"/>
                    <a:pt x="9239" y="11147"/>
                    <a:pt x="8880" y="11134"/>
                  </a:cubicBezTo>
                  <a:lnTo>
                    <a:pt x="8562" y="11134"/>
                  </a:lnTo>
                  <a:lnTo>
                    <a:pt x="8133" y="9544"/>
                  </a:lnTo>
                  <a:lnTo>
                    <a:pt x="12764" y="9544"/>
                  </a:lnTo>
                  <a:cubicBezTo>
                    <a:pt x="13196" y="9544"/>
                    <a:pt x="13554" y="9186"/>
                    <a:pt x="13554" y="8741"/>
                  </a:cubicBezTo>
                  <a:lnTo>
                    <a:pt x="13554" y="804"/>
                  </a:lnTo>
                  <a:cubicBezTo>
                    <a:pt x="13554" y="359"/>
                    <a:pt x="13196" y="0"/>
                    <a:pt x="12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4" name="Google Shape;1004;p45"/>
            <p:cNvSpPr/>
            <p:nvPr/>
          </p:nvSpPr>
          <p:spPr>
            <a:xfrm>
              <a:off x="4901650" y="2759550"/>
              <a:ext cx="59200" cy="59450"/>
            </a:xfrm>
            <a:custGeom>
              <a:avLst/>
              <a:gdLst/>
              <a:ahLst/>
              <a:cxnLst/>
              <a:rect l="l" t="t" r="r" b="b"/>
              <a:pathLst>
                <a:path w="2368" h="2378" extrusionOk="0">
                  <a:moveTo>
                    <a:pt x="529" y="551"/>
                  </a:moveTo>
                  <a:cubicBezTo>
                    <a:pt x="1193" y="664"/>
                    <a:pt x="1704" y="1189"/>
                    <a:pt x="1813" y="1853"/>
                  </a:cubicBezTo>
                  <a:lnTo>
                    <a:pt x="529" y="1853"/>
                  </a:lnTo>
                  <a:lnTo>
                    <a:pt x="529" y="551"/>
                  </a:lnTo>
                  <a:close/>
                  <a:moveTo>
                    <a:pt x="263" y="0"/>
                  </a:moveTo>
                  <a:cubicBezTo>
                    <a:pt x="114" y="0"/>
                    <a:pt x="1" y="123"/>
                    <a:pt x="1" y="263"/>
                  </a:cubicBezTo>
                  <a:lnTo>
                    <a:pt x="1" y="2115"/>
                  </a:lnTo>
                  <a:cubicBezTo>
                    <a:pt x="1" y="2254"/>
                    <a:pt x="114" y="2377"/>
                    <a:pt x="263" y="2377"/>
                  </a:cubicBezTo>
                  <a:lnTo>
                    <a:pt x="2105" y="2377"/>
                  </a:lnTo>
                  <a:cubicBezTo>
                    <a:pt x="2255" y="2377"/>
                    <a:pt x="2368" y="2254"/>
                    <a:pt x="2368" y="2115"/>
                  </a:cubicBezTo>
                  <a:cubicBezTo>
                    <a:pt x="2368" y="953"/>
                    <a:pt x="1425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5" name="Google Shape;1005;p45"/>
            <p:cNvSpPr/>
            <p:nvPr/>
          </p:nvSpPr>
          <p:spPr>
            <a:xfrm>
              <a:off x="4811125" y="2786175"/>
              <a:ext cx="122750" cy="105425"/>
            </a:xfrm>
            <a:custGeom>
              <a:avLst/>
              <a:gdLst/>
              <a:ahLst/>
              <a:cxnLst/>
              <a:rect l="l" t="t" r="r" b="b"/>
              <a:pathLst>
                <a:path w="4910" h="4217" extrusionOk="0">
                  <a:moveTo>
                    <a:pt x="2530" y="552"/>
                  </a:moveTo>
                  <a:lnTo>
                    <a:pt x="2530" y="1963"/>
                  </a:lnTo>
                  <a:lnTo>
                    <a:pt x="1311" y="2670"/>
                  </a:lnTo>
                  <a:cubicBezTo>
                    <a:pt x="953" y="1757"/>
                    <a:pt x="1577" y="691"/>
                    <a:pt x="2530" y="552"/>
                  </a:cubicBezTo>
                  <a:close/>
                  <a:moveTo>
                    <a:pt x="4369" y="2378"/>
                  </a:moveTo>
                  <a:cubicBezTo>
                    <a:pt x="4299" y="2753"/>
                    <a:pt x="4093" y="3085"/>
                    <a:pt x="3818" y="3334"/>
                  </a:cubicBezTo>
                  <a:lnTo>
                    <a:pt x="3263" y="2378"/>
                  </a:lnTo>
                  <a:close/>
                  <a:moveTo>
                    <a:pt x="2709" y="2474"/>
                  </a:moveTo>
                  <a:lnTo>
                    <a:pt x="3346" y="3596"/>
                  </a:lnTo>
                  <a:cubicBezTo>
                    <a:pt x="3176" y="3666"/>
                    <a:pt x="2993" y="3699"/>
                    <a:pt x="2810" y="3699"/>
                  </a:cubicBezTo>
                  <a:cubicBezTo>
                    <a:pt x="2340" y="3699"/>
                    <a:pt x="1867" y="3483"/>
                    <a:pt x="1590" y="3125"/>
                  </a:cubicBezTo>
                  <a:lnTo>
                    <a:pt x="2709" y="2474"/>
                  </a:lnTo>
                  <a:close/>
                  <a:moveTo>
                    <a:pt x="2792" y="1"/>
                  </a:moveTo>
                  <a:cubicBezTo>
                    <a:pt x="0" y="97"/>
                    <a:pt x="0" y="4121"/>
                    <a:pt x="2792" y="4217"/>
                  </a:cubicBezTo>
                  <a:cubicBezTo>
                    <a:pt x="3954" y="4217"/>
                    <a:pt x="4910" y="3277"/>
                    <a:pt x="4910" y="2102"/>
                  </a:cubicBezTo>
                  <a:cubicBezTo>
                    <a:pt x="4910" y="1963"/>
                    <a:pt x="4784" y="1840"/>
                    <a:pt x="4648" y="1840"/>
                  </a:cubicBezTo>
                  <a:lnTo>
                    <a:pt x="3054" y="1840"/>
                  </a:lnTo>
                  <a:lnTo>
                    <a:pt x="3054" y="263"/>
                  </a:lnTo>
                  <a:cubicBezTo>
                    <a:pt x="3054" y="111"/>
                    <a:pt x="2945" y="1"/>
                    <a:pt x="2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6" name="Google Shape;1006;p45"/>
            <p:cNvSpPr/>
            <p:nvPr/>
          </p:nvSpPr>
          <p:spPr>
            <a:xfrm>
              <a:off x="4977750" y="2852175"/>
              <a:ext cx="84025" cy="39850"/>
            </a:xfrm>
            <a:custGeom>
              <a:avLst/>
              <a:gdLst/>
              <a:ahLst/>
              <a:cxnLst/>
              <a:rect l="l" t="t" r="r" b="b"/>
              <a:pathLst>
                <a:path w="3361" h="1594" extrusionOk="0">
                  <a:moveTo>
                    <a:pt x="2836" y="528"/>
                  </a:moveTo>
                  <a:lnTo>
                    <a:pt x="2836" y="1052"/>
                  </a:lnTo>
                  <a:lnTo>
                    <a:pt x="525" y="1052"/>
                  </a:lnTo>
                  <a:lnTo>
                    <a:pt x="525" y="528"/>
                  </a:lnTo>
                  <a:close/>
                  <a:moveTo>
                    <a:pt x="263" y="0"/>
                  </a:moveTo>
                  <a:cubicBezTo>
                    <a:pt x="110" y="0"/>
                    <a:pt x="1" y="113"/>
                    <a:pt x="1" y="266"/>
                  </a:cubicBezTo>
                  <a:lnTo>
                    <a:pt x="1" y="1328"/>
                  </a:lnTo>
                  <a:cubicBezTo>
                    <a:pt x="1" y="1467"/>
                    <a:pt x="110" y="1593"/>
                    <a:pt x="263" y="1593"/>
                  </a:cubicBezTo>
                  <a:lnTo>
                    <a:pt x="3098" y="1593"/>
                  </a:lnTo>
                  <a:cubicBezTo>
                    <a:pt x="3238" y="1593"/>
                    <a:pt x="3360" y="1467"/>
                    <a:pt x="3360" y="1328"/>
                  </a:cubicBezTo>
                  <a:lnTo>
                    <a:pt x="3360" y="266"/>
                  </a:lnTo>
                  <a:cubicBezTo>
                    <a:pt x="3360" y="113"/>
                    <a:pt x="3238" y="0"/>
                    <a:pt x="3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7" name="Google Shape;1007;p45"/>
            <p:cNvSpPr/>
            <p:nvPr/>
          </p:nvSpPr>
          <p:spPr>
            <a:xfrm>
              <a:off x="4975350" y="2821050"/>
              <a:ext cx="88175" cy="13225"/>
            </a:xfrm>
            <a:custGeom>
              <a:avLst/>
              <a:gdLst/>
              <a:ahLst/>
              <a:cxnLst/>
              <a:rect l="l" t="t" r="r" b="b"/>
              <a:pathLst>
                <a:path w="3527" h="529" extrusionOk="0">
                  <a:moveTo>
                    <a:pt x="346" y="0"/>
                  </a:moveTo>
                  <a:cubicBezTo>
                    <a:pt x="1" y="17"/>
                    <a:pt x="1" y="515"/>
                    <a:pt x="346" y="528"/>
                  </a:cubicBezTo>
                  <a:lnTo>
                    <a:pt x="3181" y="528"/>
                  </a:lnTo>
                  <a:cubicBezTo>
                    <a:pt x="3526" y="515"/>
                    <a:pt x="3526" y="17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8" name="Google Shape;1008;p45"/>
            <p:cNvSpPr/>
            <p:nvPr/>
          </p:nvSpPr>
          <p:spPr>
            <a:xfrm>
              <a:off x="4975350" y="2790675"/>
              <a:ext cx="88175" cy="13125"/>
            </a:xfrm>
            <a:custGeom>
              <a:avLst/>
              <a:gdLst/>
              <a:ahLst/>
              <a:cxnLst/>
              <a:rect l="l" t="t" r="r" b="b"/>
              <a:pathLst>
                <a:path w="3527" h="525" extrusionOk="0">
                  <a:moveTo>
                    <a:pt x="346" y="0"/>
                  </a:moveTo>
                  <a:cubicBezTo>
                    <a:pt x="1" y="14"/>
                    <a:pt x="1" y="511"/>
                    <a:pt x="346" y="525"/>
                  </a:cubicBezTo>
                  <a:lnTo>
                    <a:pt x="3181" y="525"/>
                  </a:lnTo>
                  <a:cubicBezTo>
                    <a:pt x="3526" y="511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9" name="Google Shape;1009;p45"/>
            <p:cNvSpPr/>
            <p:nvPr/>
          </p:nvSpPr>
          <p:spPr>
            <a:xfrm>
              <a:off x="4975350" y="2759550"/>
              <a:ext cx="88175" cy="13125"/>
            </a:xfrm>
            <a:custGeom>
              <a:avLst/>
              <a:gdLst/>
              <a:ahLst/>
              <a:cxnLst/>
              <a:rect l="l" t="t" r="r" b="b"/>
              <a:pathLst>
                <a:path w="3527" h="525" extrusionOk="0">
                  <a:moveTo>
                    <a:pt x="346" y="0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3181" y="525"/>
                  </a:lnTo>
                  <a:cubicBezTo>
                    <a:pt x="3526" y="512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18" name="Google Shape;1018;p45"/>
          <p:cNvGrpSpPr/>
          <p:nvPr/>
        </p:nvGrpSpPr>
        <p:grpSpPr>
          <a:xfrm>
            <a:off x="931909" y="1131587"/>
            <a:ext cx="339550" cy="339275"/>
            <a:chOff x="5543825" y="1573475"/>
            <a:chExt cx="339550" cy="339275"/>
          </a:xfrm>
        </p:grpSpPr>
        <p:sp>
          <p:nvSpPr>
            <p:cNvPr id="1019" name="Google Shape;1019;p45"/>
            <p:cNvSpPr/>
            <p:nvPr/>
          </p:nvSpPr>
          <p:spPr>
            <a:xfrm>
              <a:off x="5543825" y="1573475"/>
              <a:ext cx="339550" cy="339275"/>
            </a:xfrm>
            <a:custGeom>
              <a:avLst/>
              <a:gdLst/>
              <a:ahLst/>
              <a:cxnLst/>
              <a:rect l="l" t="t" r="r" b="b"/>
              <a:pathLst>
                <a:path w="13582" h="13571" extrusionOk="0">
                  <a:moveTo>
                    <a:pt x="12781" y="541"/>
                  </a:moveTo>
                  <a:cubicBezTo>
                    <a:pt x="12934" y="541"/>
                    <a:pt x="13057" y="651"/>
                    <a:pt x="13057" y="803"/>
                  </a:cubicBezTo>
                  <a:lnTo>
                    <a:pt x="13057" y="1882"/>
                  </a:lnTo>
                  <a:cubicBezTo>
                    <a:pt x="13057" y="2035"/>
                    <a:pt x="12934" y="2144"/>
                    <a:pt x="12781" y="2144"/>
                  </a:cubicBezTo>
                  <a:lnTo>
                    <a:pt x="7413" y="2144"/>
                  </a:lnTo>
                  <a:cubicBezTo>
                    <a:pt x="7261" y="2144"/>
                    <a:pt x="7138" y="2035"/>
                    <a:pt x="7138" y="1882"/>
                  </a:cubicBezTo>
                  <a:lnTo>
                    <a:pt x="7138" y="803"/>
                  </a:lnTo>
                  <a:cubicBezTo>
                    <a:pt x="7138" y="651"/>
                    <a:pt x="7261" y="541"/>
                    <a:pt x="7413" y="541"/>
                  </a:cubicBezTo>
                  <a:close/>
                  <a:moveTo>
                    <a:pt x="12781" y="2682"/>
                  </a:moveTo>
                  <a:cubicBezTo>
                    <a:pt x="12934" y="2682"/>
                    <a:pt x="13057" y="2795"/>
                    <a:pt x="13057" y="2948"/>
                  </a:cubicBezTo>
                  <a:lnTo>
                    <a:pt x="13057" y="4027"/>
                  </a:lnTo>
                  <a:cubicBezTo>
                    <a:pt x="13057" y="4176"/>
                    <a:pt x="12934" y="4289"/>
                    <a:pt x="12781" y="4289"/>
                  </a:cubicBezTo>
                  <a:lnTo>
                    <a:pt x="7413" y="4289"/>
                  </a:lnTo>
                  <a:cubicBezTo>
                    <a:pt x="7261" y="4289"/>
                    <a:pt x="7138" y="4176"/>
                    <a:pt x="7138" y="4027"/>
                  </a:cubicBezTo>
                  <a:lnTo>
                    <a:pt x="7138" y="2948"/>
                  </a:lnTo>
                  <a:cubicBezTo>
                    <a:pt x="7138" y="2795"/>
                    <a:pt x="7261" y="2682"/>
                    <a:pt x="7413" y="2682"/>
                  </a:cubicBezTo>
                  <a:close/>
                  <a:moveTo>
                    <a:pt x="12781" y="4827"/>
                  </a:moveTo>
                  <a:cubicBezTo>
                    <a:pt x="12934" y="4827"/>
                    <a:pt x="13057" y="4953"/>
                    <a:pt x="13057" y="5089"/>
                  </a:cubicBezTo>
                  <a:lnTo>
                    <a:pt x="13057" y="6168"/>
                  </a:lnTo>
                  <a:cubicBezTo>
                    <a:pt x="13057" y="6320"/>
                    <a:pt x="12934" y="6447"/>
                    <a:pt x="12781" y="6447"/>
                  </a:cubicBezTo>
                  <a:lnTo>
                    <a:pt x="7413" y="6447"/>
                  </a:lnTo>
                  <a:cubicBezTo>
                    <a:pt x="7261" y="6447"/>
                    <a:pt x="7138" y="6320"/>
                    <a:pt x="7138" y="6168"/>
                  </a:cubicBezTo>
                  <a:lnTo>
                    <a:pt x="7138" y="5089"/>
                  </a:lnTo>
                  <a:cubicBezTo>
                    <a:pt x="7138" y="4953"/>
                    <a:pt x="7261" y="4827"/>
                    <a:pt x="7413" y="4827"/>
                  </a:cubicBezTo>
                  <a:close/>
                  <a:moveTo>
                    <a:pt x="6667" y="4302"/>
                  </a:moveTo>
                  <a:cubicBezTo>
                    <a:pt x="6693" y="4398"/>
                    <a:pt x="6750" y="4481"/>
                    <a:pt x="6819" y="4564"/>
                  </a:cubicBezTo>
                  <a:cubicBezTo>
                    <a:pt x="6693" y="4704"/>
                    <a:pt x="6610" y="4896"/>
                    <a:pt x="6610" y="5089"/>
                  </a:cubicBezTo>
                  <a:lnTo>
                    <a:pt x="6610" y="6168"/>
                  </a:lnTo>
                  <a:cubicBezTo>
                    <a:pt x="6610" y="6613"/>
                    <a:pt x="6972" y="6971"/>
                    <a:pt x="7413" y="6971"/>
                  </a:cubicBezTo>
                  <a:lnTo>
                    <a:pt x="9282" y="6971"/>
                  </a:lnTo>
                  <a:cubicBezTo>
                    <a:pt x="9075" y="8407"/>
                    <a:pt x="7974" y="9105"/>
                    <a:pt x="6878" y="9105"/>
                  </a:cubicBezTo>
                  <a:cubicBezTo>
                    <a:pt x="5692" y="9105"/>
                    <a:pt x="4512" y="8290"/>
                    <a:pt x="4469" y="6709"/>
                  </a:cubicBezTo>
                  <a:cubicBezTo>
                    <a:pt x="4469" y="5451"/>
                    <a:pt x="5435" y="4412"/>
                    <a:pt x="6667" y="4302"/>
                  </a:cubicBezTo>
                  <a:close/>
                  <a:moveTo>
                    <a:pt x="3832" y="9321"/>
                  </a:moveTo>
                  <a:cubicBezTo>
                    <a:pt x="3971" y="9474"/>
                    <a:pt x="4107" y="9613"/>
                    <a:pt x="4260" y="9736"/>
                  </a:cubicBezTo>
                  <a:lnTo>
                    <a:pt x="3888" y="10138"/>
                  </a:lnTo>
                  <a:lnTo>
                    <a:pt x="3430" y="9696"/>
                  </a:lnTo>
                  <a:lnTo>
                    <a:pt x="3832" y="9321"/>
                  </a:lnTo>
                  <a:close/>
                  <a:moveTo>
                    <a:pt x="6610" y="3223"/>
                  </a:moveTo>
                  <a:lnTo>
                    <a:pt x="6610" y="3778"/>
                  </a:lnTo>
                  <a:cubicBezTo>
                    <a:pt x="5133" y="3874"/>
                    <a:pt x="3901" y="5215"/>
                    <a:pt x="3928" y="6709"/>
                  </a:cubicBezTo>
                  <a:cubicBezTo>
                    <a:pt x="3928" y="8326"/>
                    <a:pt x="5256" y="9653"/>
                    <a:pt x="6876" y="9653"/>
                  </a:cubicBezTo>
                  <a:cubicBezTo>
                    <a:pt x="6893" y="9654"/>
                    <a:pt x="6911" y="9654"/>
                    <a:pt x="6929" y="9654"/>
                  </a:cubicBezTo>
                  <a:cubicBezTo>
                    <a:pt x="8401" y="9654"/>
                    <a:pt x="9712" y="8434"/>
                    <a:pt x="9807" y="6971"/>
                  </a:cubicBezTo>
                  <a:lnTo>
                    <a:pt x="10361" y="6971"/>
                  </a:lnTo>
                  <a:cubicBezTo>
                    <a:pt x="10222" y="8770"/>
                    <a:pt x="8701" y="10194"/>
                    <a:pt x="6876" y="10194"/>
                  </a:cubicBezTo>
                  <a:cubicBezTo>
                    <a:pt x="2408" y="10042"/>
                    <a:pt x="2198" y="3721"/>
                    <a:pt x="6610" y="3223"/>
                  </a:cubicBezTo>
                  <a:close/>
                  <a:moveTo>
                    <a:pt x="3058" y="10055"/>
                  </a:moveTo>
                  <a:lnTo>
                    <a:pt x="3526" y="10526"/>
                  </a:lnTo>
                  <a:lnTo>
                    <a:pt x="1285" y="12907"/>
                  </a:lnTo>
                  <a:cubicBezTo>
                    <a:pt x="1211" y="12987"/>
                    <a:pt x="1101" y="13025"/>
                    <a:pt x="991" y="13025"/>
                  </a:cubicBezTo>
                  <a:cubicBezTo>
                    <a:pt x="874" y="13025"/>
                    <a:pt x="756" y="12983"/>
                    <a:pt x="678" y="12907"/>
                  </a:cubicBezTo>
                  <a:cubicBezTo>
                    <a:pt x="512" y="12741"/>
                    <a:pt x="499" y="12448"/>
                    <a:pt x="678" y="12282"/>
                  </a:cubicBezTo>
                  <a:lnTo>
                    <a:pt x="3058" y="10055"/>
                  </a:lnTo>
                  <a:close/>
                  <a:moveTo>
                    <a:pt x="7413" y="0"/>
                  </a:moveTo>
                  <a:cubicBezTo>
                    <a:pt x="6972" y="0"/>
                    <a:pt x="6610" y="359"/>
                    <a:pt x="6610" y="803"/>
                  </a:cubicBezTo>
                  <a:lnTo>
                    <a:pt x="6610" y="1882"/>
                  </a:lnTo>
                  <a:cubicBezTo>
                    <a:pt x="6610" y="2088"/>
                    <a:pt x="6693" y="2267"/>
                    <a:pt x="6819" y="2407"/>
                  </a:cubicBezTo>
                  <a:cubicBezTo>
                    <a:pt x="6750" y="2490"/>
                    <a:pt x="6693" y="2586"/>
                    <a:pt x="6653" y="2699"/>
                  </a:cubicBezTo>
                  <a:cubicBezTo>
                    <a:pt x="3583" y="2835"/>
                    <a:pt x="1827" y="6364"/>
                    <a:pt x="3513" y="8906"/>
                  </a:cubicBezTo>
                  <a:lnTo>
                    <a:pt x="303" y="11911"/>
                  </a:lnTo>
                  <a:cubicBezTo>
                    <a:pt x="124" y="12090"/>
                    <a:pt x="14" y="12326"/>
                    <a:pt x="14" y="12575"/>
                  </a:cubicBezTo>
                  <a:cubicBezTo>
                    <a:pt x="1" y="13105"/>
                    <a:pt x="456" y="13571"/>
                    <a:pt x="988" y="13571"/>
                  </a:cubicBezTo>
                  <a:cubicBezTo>
                    <a:pt x="995" y="13571"/>
                    <a:pt x="1003" y="13571"/>
                    <a:pt x="1010" y="13570"/>
                  </a:cubicBezTo>
                  <a:cubicBezTo>
                    <a:pt x="1259" y="13570"/>
                    <a:pt x="1495" y="13458"/>
                    <a:pt x="1674" y="13278"/>
                  </a:cubicBezTo>
                  <a:lnTo>
                    <a:pt x="4688" y="10068"/>
                  </a:lnTo>
                  <a:cubicBezTo>
                    <a:pt x="5365" y="10522"/>
                    <a:pt x="6113" y="10728"/>
                    <a:pt x="6848" y="10728"/>
                  </a:cubicBezTo>
                  <a:cubicBezTo>
                    <a:pt x="8852" y="10728"/>
                    <a:pt x="10764" y="9198"/>
                    <a:pt x="10886" y="6971"/>
                  </a:cubicBezTo>
                  <a:lnTo>
                    <a:pt x="12781" y="6971"/>
                  </a:lnTo>
                  <a:cubicBezTo>
                    <a:pt x="13223" y="6971"/>
                    <a:pt x="13581" y="6613"/>
                    <a:pt x="13581" y="6168"/>
                  </a:cubicBezTo>
                  <a:lnTo>
                    <a:pt x="13581" y="5089"/>
                  </a:lnTo>
                  <a:cubicBezTo>
                    <a:pt x="13581" y="4883"/>
                    <a:pt x="13498" y="4704"/>
                    <a:pt x="13375" y="4564"/>
                  </a:cubicBezTo>
                  <a:cubicBezTo>
                    <a:pt x="13498" y="4412"/>
                    <a:pt x="13581" y="4232"/>
                    <a:pt x="13581" y="4027"/>
                  </a:cubicBezTo>
                  <a:lnTo>
                    <a:pt x="13581" y="2948"/>
                  </a:lnTo>
                  <a:cubicBezTo>
                    <a:pt x="13581" y="2739"/>
                    <a:pt x="13498" y="2559"/>
                    <a:pt x="13375" y="2407"/>
                  </a:cubicBezTo>
                  <a:cubicBezTo>
                    <a:pt x="13498" y="2267"/>
                    <a:pt x="13581" y="2088"/>
                    <a:pt x="13581" y="1882"/>
                  </a:cubicBezTo>
                  <a:lnTo>
                    <a:pt x="13581" y="803"/>
                  </a:lnTo>
                  <a:cubicBezTo>
                    <a:pt x="13581" y="359"/>
                    <a:pt x="13223" y="0"/>
                    <a:pt x="12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0" name="Google Shape;1020;p45"/>
            <p:cNvSpPr/>
            <p:nvPr/>
          </p:nvSpPr>
          <p:spPr>
            <a:xfrm>
              <a:off x="5768900" y="1600100"/>
              <a:ext cx="52975" cy="13150"/>
            </a:xfrm>
            <a:custGeom>
              <a:avLst/>
              <a:gdLst/>
              <a:ahLst/>
              <a:cxnLst/>
              <a:rect l="l" t="t" r="r" b="b"/>
              <a:pathLst>
                <a:path w="2119" h="526" extrusionOk="0">
                  <a:moveTo>
                    <a:pt x="362" y="1"/>
                  </a:moveTo>
                  <a:cubicBezTo>
                    <a:pt x="1" y="14"/>
                    <a:pt x="1" y="512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9"/>
                    <a:pt x="2089" y="223"/>
                  </a:cubicBezTo>
                  <a:cubicBezTo>
                    <a:pt x="2075" y="97"/>
                    <a:pt x="1952" y="1"/>
                    <a:pt x="1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1" name="Google Shape;1021;p45"/>
            <p:cNvSpPr/>
            <p:nvPr/>
          </p:nvSpPr>
          <p:spPr>
            <a:xfrm>
              <a:off x="5739525" y="1600100"/>
              <a:ext cx="13125" cy="13300"/>
            </a:xfrm>
            <a:custGeom>
              <a:avLst/>
              <a:gdLst/>
              <a:ahLst/>
              <a:cxnLst/>
              <a:rect l="l" t="t" r="r" b="b"/>
              <a:pathLst>
                <a:path w="525" h="532" extrusionOk="0">
                  <a:moveTo>
                    <a:pt x="263" y="1"/>
                  </a:moveTo>
                  <a:cubicBezTo>
                    <a:pt x="110" y="1"/>
                    <a:pt x="0" y="123"/>
                    <a:pt x="0" y="263"/>
                  </a:cubicBezTo>
                  <a:cubicBezTo>
                    <a:pt x="0" y="442"/>
                    <a:pt x="128" y="532"/>
                    <a:pt x="258" y="532"/>
                  </a:cubicBezTo>
                  <a:cubicBezTo>
                    <a:pt x="387" y="532"/>
                    <a:pt x="518" y="442"/>
                    <a:pt x="525" y="263"/>
                  </a:cubicBezTo>
                  <a:cubicBezTo>
                    <a:pt x="525" y="123"/>
                    <a:pt x="402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2" name="Google Shape;1022;p45"/>
            <p:cNvSpPr/>
            <p:nvPr/>
          </p:nvSpPr>
          <p:spPr>
            <a:xfrm>
              <a:off x="5768900" y="1707325"/>
              <a:ext cx="52975" cy="13125"/>
            </a:xfrm>
            <a:custGeom>
              <a:avLst/>
              <a:gdLst/>
              <a:ahLst/>
              <a:cxnLst/>
              <a:rect l="l" t="t" r="r" b="b"/>
              <a:pathLst>
                <a:path w="2119" h="525" extrusionOk="0">
                  <a:moveTo>
                    <a:pt x="362" y="0"/>
                  </a:moveTo>
                  <a:cubicBezTo>
                    <a:pt x="1" y="14"/>
                    <a:pt x="1" y="512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6"/>
                    <a:pt x="2089" y="220"/>
                  </a:cubicBezTo>
                  <a:cubicBezTo>
                    <a:pt x="2075" y="97"/>
                    <a:pt x="1952" y="0"/>
                    <a:pt x="1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3" name="Google Shape;1023;p45"/>
            <p:cNvSpPr/>
            <p:nvPr/>
          </p:nvSpPr>
          <p:spPr>
            <a:xfrm>
              <a:off x="5739525" y="1707325"/>
              <a:ext cx="13125" cy="13375"/>
            </a:xfrm>
            <a:custGeom>
              <a:avLst/>
              <a:gdLst/>
              <a:ahLst/>
              <a:cxnLst/>
              <a:rect l="l" t="t" r="r" b="b"/>
              <a:pathLst>
                <a:path w="525" h="535" extrusionOk="0">
                  <a:moveTo>
                    <a:pt x="263" y="0"/>
                  </a:moveTo>
                  <a:cubicBezTo>
                    <a:pt x="110" y="0"/>
                    <a:pt x="0" y="123"/>
                    <a:pt x="0" y="276"/>
                  </a:cubicBezTo>
                  <a:cubicBezTo>
                    <a:pt x="0" y="449"/>
                    <a:pt x="128" y="535"/>
                    <a:pt x="258" y="535"/>
                  </a:cubicBezTo>
                  <a:cubicBezTo>
                    <a:pt x="387" y="535"/>
                    <a:pt x="518" y="449"/>
                    <a:pt x="525" y="276"/>
                  </a:cubicBezTo>
                  <a:cubicBezTo>
                    <a:pt x="525" y="123"/>
                    <a:pt x="40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4" name="Google Shape;1024;p45"/>
            <p:cNvSpPr/>
            <p:nvPr/>
          </p:nvSpPr>
          <p:spPr>
            <a:xfrm>
              <a:off x="5768900" y="1653725"/>
              <a:ext cx="52975" cy="13125"/>
            </a:xfrm>
            <a:custGeom>
              <a:avLst/>
              <a:gdLst/>
              <a:ahLst/>
              <a:cxnLst/>
              <a:rect l="l" t="t" r="r" b="b"/>
              <a:pathLst>
                <a:path w="2119" h="525" extrusionOk="0">
                  <a:moveTo>
                    <a:pt x="362" y="0"/>
                  </a:moveTo>
                  <a:cubicBezTo>
                    <a:pt x="1" y="13"/>
                    <a:pt x="1" y="511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5"/>
                    <a:pt x="2089" y="219"/>
                  </a:cubicBezTo>
                  <a:cubicBezTo>
                    <a:pt x="2075" y="96"/>
                    <a:pt x="1952" y="0"/>
                    <a:pt x="1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5" name="Google Shape;1025;p45"/>
            <p:cNvSpPr/>
            <p:nvPr/>
          </p:nvSpPr>
          <p:spPr>
            <a:xfrm>
              <a:off x="5739525" y="1653725"/>
              <a:ext cx="13125" cy="13375"/>
            </a:xfrm>
            <a:custGeom>
              <a:avLst/>
              <a:gdLst/>
              <a:ahLst/>
              <a:cxnLst/>
              <a:rect l="l" t="t" r="r" b="b"/>
              <a:pathLst>
                <a:path w="525" h="535" extrusionOk="0">
                  <a:moveTo>
                    <a:pt x="263" y="0"/>
                  </a:moveTo>
                  <a:cubicBezTo>
                    <a:pt x="110" y="0"/>
                    <a:pt x="0" y="123"/>
                    <a:pt x="0" y="276"/>
                  </a:cubicBezTo>
                  <a:cubicBezTo>
                    <a:pt x="0" y="448"/>
                    <a:pt x="128" y="534"/>
                    <a:pt x="258" y="534"/>
                  </a:cubicBezTo>
                  <a:cubicBezTo>
                    <a:pt x="387" y="534"/>
                    <a:pt x="518" y="448"/>
                    <a:pt x="525" y="276"/>
                  </a:cubicBezTo>
                  <a:cubicBezTo>
                    <a:pt x="525" y="123"/>
                    <a:pt x="40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498909" y="1017725"/>
            <a:ext cx="362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Observation</a:t>
            </a:r>
            <a:r>
              <a:rPr lang="en-US" b="1" u="sng" dirty="0" smtClean="0"/>
              <a:t>:</a:t>
            </a:r>
            <a:endParaRPr lang="en-US" b="1" u="sng" dirty="0"/>
          </a:p>
        </p:txBody>
      </p:sp>
      <p:sp>
        <p:nvSpPr>
          <p:cNvPr id="14" name="TextBox 13"/>
          <p:cNvSpPr txBox="1"/>
          <p:nvPr/>
        </p:nvSpPr>
        <p:spPr>
          <a:xfrm>
            <a:off x="1509301" y="1283929"/>
            <a:ext cx="61253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While analyzing the relationship between healthy eating habits and employee salary, we identified one notable outlier: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Employee ID: 26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Healthy Eating Score: High (above 8)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Salary: 700, which is significantly below the expected range for employees with high health scores.</a:t>
            </a:r>
          </a:p>
          <a:p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66126" y="2739607"/>
            <a:ext cx="2726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Insight: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385184" y="3047384"/>
            <a:ext cx="575003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This employee breaks the general trend where higher healthy eating scores are typically associated with higher salaries.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 salary of 700 places this employee well below the average, indicating a possible discrepancy.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This could suggest</a:t>
            </a:r>
            <a:r>
              <a:rPr lang="en-US" sz="1200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sz="1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                       1.  A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data entry issue</a:t>
            </a:r>
          </a:p>
          <a:p>
            <a:r>
              <a:rPr lang="en-US" sz="1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                       2.  A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unique job role or employment status (e.g., intern, part-time)</a:t>
            </a:r>
          </a:p>
          <a:p>
            <a:r>
              <a:rPr lang="en-US" sz="1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                       3.  Or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a potential area for compensation review.</a:t>
            </a:r>
          </a:p>
          <a:p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74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Recommendations</a:t>
            </a:r>
            <a:endParaRPr dirty="0"/>
          </a:p>
        </p:txBody>
      </p:sp>
      <p:sp>
        <p:nvSpPr>
          <p:cNvPr id="1032" name="Google Shape;1032;p46"/>
          <p:cNvSpPr txBox="1">
            <a:spLocks noGrp="1"/>
          </p:cNvSpPr>
          <p:nvPr>
            <p:ph type="subTitle" idx="2"/>
          </p:nvPr>
        </p:nvSpPr>
        <p:spPr>
          <a:xfrm>
            <a:off x="3122144" y="2294623"/>
            <a:ext cx="2359500" cy="2428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cases where </a:t>
            </a:r>
            <a:r>
              <a:rPr lang="en-US" b="1" dirty="0"/>
              <a:t>health-conscious employees earn below average</a:t>
            </a:r>
            <a:r>
              <a:rPr lang="en-US" dirty="0"/>
              <a:t>, such as Employee ID 26.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Determine if these are due </a:t>
            </a:r>
            <a:r>
              <a:rPr lang="en-US" dirty="0" smtClean="0"/>
              <a:t>to:	</a:t>
            </a:r>
          </a:p>
          <a:p>
            <a:pPr marL="323850" indent="-171450">
              <a:buFont typeface="Wingdings" panose="05000000000000000000" pitchFamily="2" charset="2"/>
              <a:buChar char="ü"/>
            </a:pPr>
            <a:r>
              <a:rPr lang="en-US" dirty="0" smtClean="0"/>
              <a:t>         </a:t>
            </a:r>
            <a:r>
              <a:rPr lang="en-US" sz="1100" dirty="0" smtClean="0"/>
              <a:t>Job </a:t>
            </a:r>
            <a:r>
              <a:rPr lang="en-US" sz="1100" dirty="0"/>
              <a:t>roles (e.g., intern/contract)</a:t>
            </a:r>
          </a:p>
          <a:p>
            <a:pPr marL="323850" indent="-171450">
              <a:buFont typeface="Wingdings" panose="05000000000000000000" pitchFamily="2" charset="2"/>
              <a:buChar char="ü"/>
            </a:pPr>
            <a:r>
              <a:rPr lang="en-US" sz="1100" dirty="0"/>
              <a:t>Data quality issues</a:t>
            </a:r>
          </a:p>
          <a:p>
            <a:pPr marL="323850" indent="-171450">
              <a:buFont typeface="Wingdings" panose="05000000000000000000" pitchFamily="2" charset="2"/>
              <a:buChar char="ü"/>
            </a:pPr>
            <a:r>
              <a:rPr lang="en-US" sz="1100" dirty="0" smtClean="0"/>
              <a:t>Potential </a:t>
            </a:r>
            <a:r>
              <a:rPr lang="en-US" sz="1100" dirty="0"/>
              <a:t>oversight in salary structuring</a:t>
            </a:r>
          </a:p>
          <a:p>
            <a:pPr marL="152400" indent="0"/>
            <a:endParaRPr lang="en-US" dirty="0"/>
          </a:p>
        </p:txBody>
      </p:sp>
      <p:sp>
        <p:nvSpPr>
          <p:cNvPr id="1031" name="Google Shape;1031;p46"/>
          <p:cNvSpPr txBox="1">
            <a:spLocks noGrp="1"/>
          </p:cNvSpPr>
          <p:nvPr>
            <p:ph type="subTitle" idx="1"/>
          </p:nvPr>
        </p:nvSpPr>
        <p:spPr>
          <a:xfrm>
            <a:off x="0" y="2294623"/>
            <a:ext cx="2946978" cy="25357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 </a:t>
            </a:r>
            <a:r>
              <a:rPr lang="en-US" b="1" dirty="0"/>
              <a:t>healthy eating</a:t>
            </a:r>
            <a:r>
              <a:rPr lang="en-US" dirty="0"/>
              <a:t> and </a:t>
            </a:r>
            <a:r>
              <a:rPr lang="en-US" b="1" dirty="0"/>
              <a:t>active lifestyles</a:t>
            </a:r>
            <a:r>
              <a:rPr lang="en-US" dirty="0"/>
              <a:t> for employees at all 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Consider </a:t>
            </a:r>
            <a:r>
              <a:rPr lang="en-US" b="1" dirty="0"/>
              <a:t>incentive-based wellness programs</a:t>
            </a:r>
            <a:r>
              <a:rPr lang="en-US" dirty="0"/>
              <a:t> to increase engagement and overall well-being.</a:t>
            </a:r>
          </a:p>
        </p:txBody>
      </p:sp>
      <p:sp>
        <p:nvSpPr>
          <p:cNvPr id="1035" name="Google Shape;1035;p46"/>
          <p:cNvSpPr txBox="1">
            <a:spLocks noGrp="1"/>
          </p:cNvSpPr>
          <p:nvPr>
            <p:ph type="subTitle" idx="5"/>
          </p:nvPr>
        </p:nvSpPr>
        <p:spPr>
          <a:xfrm>
            <a:off x="6031591" y="2291909"/>
            <a:ext cx="2359500" cy="2372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Use identified </a:t>
            </a:r>
            <a:r>
              <a:rPr lang="en-US" sz="1100" b="1" dirty="0"/>
              <a:t>data subsets</a:t>
            </a:r>
            <a:r>
              <a:rPr lang="en-US" sz="1100" dirty="0"/>
              <a:t> (e.g., high healthy eating + low salary) to: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1100" b="1" dirty="0"/>
              <a:t>Target wellness support</a:t>
            </a:r>
            <a:r>
              <a:rPr lang="en-US" sz="1100" dirty="0"/>
              <a:t> where it may be most needed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1100" dirty="0"/>
              <a:t>Inform </a:t>
            </a:r>
            <a:r>
              <a:rPr lang="en-US" sz="1100" b="1" dirty="0"/>
              <a:t>future hiring, benefits, and retention policies</a:t>
            </a:r>
            <a:endParaRPr lang="en-US" sz="11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1100" dirty="0"/>
              <a:t>Promote a </a:t>
            </a:r>
            <a:r>
              <a:rPr lang="en-US" sz="1100" b="1" dirty="0"/>
              <a:t>data-driven culture</a:t>
            </a:r>
            <a:r>
              <a:rPr lang="en-US" sz="1100" dirty="0"/>
              <a:t> in HR and employee engagement initiatives</a:t>
            </a:r>
          </a:p>
        </p:txBody>
      </p:sp>
      <p:sp>
        <p:nvSpPr>
          <p:cNvPr id="1037" name="Google Shape;1037;p46"/>
          <p:cNvSpPr txBox="1">
            <a:spLocks noGrp="1"/>
          </p:cNvSpPr>
          <p:nvPr>
            <p:ph type="subTitle" idx="7"/>
          </p:nvPr>
        </p:nvSpPr>
        <p:spPr>
          <a:xfrm>
            <a:off x="251791" y="1715638"/>
            <a:ext cx="2425226" cy="7280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1200" dirty="0"/>
              <a:t>1. Promote Health Initiatives Across All Salary Bands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38" name="Google Shape;1038;p46"/>
          <p:cNvSpPr txBox="1">
            <a:spLocks noGrp="1"/>
          </p:cNvSpPr>
          <p:nvPr>
            <p:ph type="subTitle" idx="8"/>
          </p:nvPr>
        </p:nvSpPr>
        <p:spPr>
          <a:xfrm>
            <a:off x="3419296" y="1887017"/>
            <a:ext cx="2823576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200" dirty="0"/>
              <a:t>2. Investigate Salary Discrepancies</a:t>
            </a:r>
            <a:endParaRPr sz="1200" dirty="0"/>
          </a:p>
        </p:txBody>
      </p:sp>
      <p:sp>
        <p:nvSpPr>
          <p:cNvPr id="1039" name="Google Shape;1039;p46"/>
          <p:cNvSpPr txBox="1">
            <a:spLocks noGrp="1"/>
          </p:cNvSpPr>
          <p:nvPr>
            <p:ph type="subTitle" idx="9"/>
          </p:nvPr>
        </p:nvSpPr>
        <p:spPr>
          <a:xfrm>
            <a:off x="6073800" y="1884451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200" dirty="0"/>
              <a:t>3. Leverage Subset Insights for HR Strategy</a:t>
            </a:r>
            <a:endParaRPr sz="1200" dirty="0"/>
          </a:p>
        </p:txBody>
      </p:sp>
      <p:sp>
        <p:nvSpPr>
          <p:cNvPr id="1046" name="Google Shape;1046;p46"/>
          <p:cNvSpPr/>
          <p:nvPr/>
        </p:nvSpPr>
        <p:spPr>
          <a:xfrm>
            <a:off x="967836" y="114574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7" name="Google Shape;1047;p46"/>
          <p:cNvSpPr/>
          <p:nvPr/>
        </p:nvSpPr>
        <p:spPr>
          <a:xfrm>
            <a:off x="4078031" y="1159287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" name="Google Shape;1048;p46"/>
          <p:cNvSpPr/>
          <p:nvPr/>
        </p:nvSpPr>
        <p:spPr>
          <a:xfrm>
            <a:off x="6758241" y="114574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49" name="Google Shape;1049;p46"/>
          <p:cNvGrpSpPr/>
          <p:nvPr/>
        </p:nvGrpSpPr>
        <p:grpSpPr>
          <a:xfrm>
            <a:off x="4193181" y="1282538"/>
            <a:ext cx="339200" cy="338875"/>
            <a:chOff x="4016825" y="3801400"/>
            <a:chExt cx="339200" cy="338875"/>
          </a:xfrm>
        </p:grpSpPr>
        <p:sp>
          <p:nvSpPr>
            <p:cNvPr id="1050" name="Google Shape;1050;p46"/>
            <p:cNvSpPr/>
            <p:nvPr/>
          </p:nvSpPr>
          <p:spPr>
            <a:xfrm>
              <a:off x="4016825" y="380140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10125" y="525"/>
                  </a:moveTo>
                  <a:lnTo>
                    <a:pt x="10125" y="4233"/>
                  </a:lnTo>
                  <a:lnTo>
                    <a:pt x="8767" y="4233"/>
                  </a:lnTo>
                  <a:cubicBezTo>
                    <a:pt x="8701" y="4233"/>
                    <a:pt x="8645" y="4259"/>
                    <a:pt x="8588" y="4316"/>
                  </a:cubicBezTo>
                  <a:lnTo>
                    <a:pt x="8133" y="4771"/>
                  </a:lnTo>
                  <a:lnTo>
                    <a:pt x="7675" y="4316"/>
                  </a:lnTo>
                  <a:cubicBezTo>
                    <a:pt x="7635" y="4259"/>
                    <a:pt x="7566" y="4233"/>
                    <a:pt x="7496" y="4233"/>
                  </a:cubicBezTo>
                  <a:lnTo>
                    <a:pt x="6155" y="4233"/>
                  </a:lnTo>
                  <a:lnTo>
                    <a:pt x="6155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8" y="10650"/>
                  </a:lnTo>
                  <a:lnTo>
                    <a:pt x="2128" y="4024"/>
                  </a:lnTo>
                  <a:lnTo>
                    <a:pt x="5614" y="4024"/>
                  </a:lnTo>
                  <a:lnTo>
                    <a:pt x="5614" y="4233"/>
                  </a:lnTo>
                  <a:cubicBezTo>
                    <a:pt x="5614" y="4522"/>
                    <a:pt x="5850" y="4771"/>
                    <a:pt x="6155" y="4771"/>
                  </a:cubicBezTo>
                  <a:lnTo>
                    <a:pt x="7386" y="4771"/>
                  </a:lnTo>
                  <a:lnTo>
                    <a:pt x="7758" y="5146"/>
                  </a:lnTo>
                  <a:cubicBezTo>
                    <a:pt x="7855" y="5242"/>
                    <a:pt x="7994" y="5298"/>
                    <a:pt x="8133" y="5298"/>
                  </a:cubicBezTo>
                  <a:cubicBezTo>
                    <a:pt x="8270" y="5298"/>
                    <a:pt x="8409" y="5242"/>
                    <a:pt x="8505" y="5146"/>
                  </a:cubicBezTo>
                  <a:lnTo>
                    <a:pt x="8880" y="4771"/>
                  </a:lnTo>
                  <a:lnTo>
                    <a:pt x="10125" y="4771"/>
                  </a:lnTo>
                  <a:cubicBezTo>
                    <a:pt x="10414" y="4771"/>
                    <a:pt x="10650" y="4522"/>
                    <a:pt x="10650" y="4233"/>
                  </a:cubicBezTo>
                  <a:lnTo>
                    <a:pt x="10650" y="4024"/>
                  </a:lnTo>
                  <a:close/>
                  <a:moveTo>
                    <a:pt x="12240" y="2961"/>
                  </a:moveTo>
                  <a:cubicBezTo>
                    <a:pt x="12392" y="2961"/>
                    <a:pt x="12502" y="3084"/>
                    <a:pt x="12502" y="3224"/>
                  </a:cubicBezTo>
                  <a:lnTo>
                    <a:pt x="12502" y="11702"/>
                  </a:lnTo>
                  <a:lnTo>
                    <a:pt x="8369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4" y="11964"/>
                  </a:lnTo>
                  <a:cubicBezTo>
                    <a:pt x="5464" y="11825"/>
                    <a:pt x="5338" y="11702"/>
                    <a:pt x="5199" y="11702"/>
                  </a:cubicBezTo>
                  <a:lnTo>
                    <a:pt x="1066" y="11702"/>
                  </a:lnTo>
                  <a:lnTo>
                    <a:pt x="1066" y="3224"/>
                  </a:lnTo>
                  <a:cubicBezTo>
                    <a:pt x="1066" y="3084"/>
                    <a:pt x="1176" y="2961"/>
                    <a:pt x="1328" y="2961"/>
                  </a:cubicBezTo>
                  <a:lnTo>
                    <a:pt x="5614" y="2961"/>
                  </a:lnTo>
                  <a:lnTo>
                    <a:pt x="5614" y="3499"/>
                  </a:lnTo>
                  <a:lnTo>
                    <a:pt x="1853" y="3499"/>
                  </a:lnTo>
                  <a:cubicBezTo>
                    <a:pt x="1713" y="3499"/>
                    <a:pt x="1590" y="3609"/>
                    <a:pt x="1590" y="3761"/>
                  </a:cubicBezTo>
                  <a:lnTo>
                    <a:pt x="1590" y="10912"/>
                  </a:lnTo>
                  <a:cubicBezTo>
                    <a:pt x="1590" y="11051"/>
                    <a:pt x="1713" y="11177"/>
                    <a:pt x="1853" y="11177"/>
                  </a:cubicBezTo>
                  <a:lnTo>
                    <a:pt x="11715" y="11177"/>
                  </a:lnTo>
                  <a:cubicBezTo>
                    <a:pt x="11855" y="11177"/>
                    <a:pt x="11977" y="11051"/>
                    <a:pt x="11977" y="10912"/>
                  </a:cubicBezTo>
                  <a:lnTo>
                    <a:pt x="11977" y="3761"/>
                  </a:lnTo>
                  <a:cubicBezTo>
                    <a:pt x="11977" y="3609"/>
                    <a:pt x="11855" y="3499"/>
                    <a:pt x="11715" y="3499"/>
                  </a:cubicBezTo>
                  <a:lnTo>
                    <a:pt x="10650" y="3499"/>
                  </a:lnTo>
                  <a:lnTo>
                    <a:pt x="10650" y="2961"/>
                  </a:lnTo>
                  <a:close/>
                  <a:moveTo>
                    <a:pt x="13030" y="12240"/>
                  </a:moveTo>
                  <a:lnTo>
                    <a:pt x="13030" y="12767"/>
                  </a:lnTo>
                  <a:cubicBezTo>
                    <a:pt x="13030" y="12904"/>
                    <a:pt x="12917" y="13030"/>
                    <a:pt x="12768" y="13030"/>
                  </a:cubicBezTo>
                  <a:lnTo>
                    <a:pt x="800" y="13030"/>
                  </a:lnTo>
                  <a:cubicBezTo>
                    <a:pt x="651" y="13030"/>
                    <a:pt x="538" y="12904"/>
                    <a:pt x="538" y="12767"/>
                  </a:cubicBezTo>
                  <a:lnTo>
                    <a:pt x="538" y="12240"/>
                  </a:lnTo>
                  <a:lnTo>
                    <a:pt x="5006" y="12240"/>
                  </a:lnTo>
                  <a:cubicBezTo>
                    <a:pt x="5089" y="12392"/>
                    <a:pt x="5269" y="12505"/>
                    <a:pt x="5464" y="12505"/>
                  </a:cubicBezTo>
                  <a:lnTo>
                    <a:pt x="8104" y="12505"/>
                  </a:lnTo>
                  <a:cubicBezTo>
                    <a:pt x="8299" y="12505"/>
                    <a:pt x="8479" y="12392"/>
                    <a:pt x="8562" y="12240"/>
                  </a:cubicBezTo>
                  <a:close/>
                  <a:moveTo>
                    <a:pt x="6155" y="0"/>
                  </a:moveTo>
                  <a:cubicBezTo>
                    <a:pt x="5850" y="0"/>
                    <a:pt x="5614" y="236"/>
                    <a:pt x="5614" y="525"/>
                  </a:cubicBezTo>
                  <a:lnTo>
                    <a:pt x="5614" y="2434"/>
                  </a:lnTo>
                  <a:lnTo>
                    <a:pt x="1328" y="2434"/>
                  </a:lnTo>
                  <a:cubicBezTo>
                    <a:pt x="883" y="2434"/>
                    <a:pt x="538" y="2795"/>
                    <a:pt x="538" y="3224"/>
                  </a:cubicBezTo>
                  <a:lnTo>
                    <a:pt x="538" y="11702"/>
                  </a:lnTo>
                  <a:lnTo>
                    <a:pt x="263" y="11702"/>
                  </a:lnTo>
                  <a:cubicBezTo>
                    <a:pt x="123" y="11702"/>
                    <a:pt x="0" y="11825"/>
                    <a:pt x="0" y="11964"/>
                  </a:cubicBezTo>
                  <a:lnTo>
                    <a:pt x="0" y="12767"/>
                  </a:lnTo>
                  <a:cubicBezTo>
                    <a:pt x="0" y="13209"/>
                    <a:pt x="359" y="13554"/>
                    <a:pt x="800" y="13554"/>
                  </a:cubicBezTo>
                  <a:lnTo>
                    <a:pt x="12768" y="13554"/>
                  </a:lnTo>
                  <a:cubicBezTo>
                    <a:pt x="13209" y="13554"/>
                    <a:pt x="13568" y="13209"/>
                    <a:pt x="13568" y="12767"/>
                  </a:cubicBezTo>
                  <a:lnTo>
                    <a:pt x="13568" y="11964"/>
                  </a:lnTo>
                  <a:cubicBezTo>
                    <a:pt x="13568" y="11825"/>
                    <a:pt x="13445" y="11702"/>
                    <a:pt x="13305" y="11702"/>
                  </a:cubicBezTo>
                  <a:lnTo>
                    <a:pt x="13030" y="11702"/>
                  </a:lnTo>
                  <a:lnTo>
                    <a:pt x="13030" y="3224"/>
                  </a:lnTo>
                  <a:cubicBezTo>
                    <a:pt x="13030" y="2795"/>
                    <a:pt x="12685" y="2434"/>
                    <a:pt x="12240" y="2434"/>
                  </a:cubicBezTo>
                  <a:lnTo>
                    <a:pt x="10650" y="2434"/>
                  </a:lnTo>
                  <a:lnTo>
                    <a:pt x="10650" y="525"/>
                  </a:lnTo>
                  <a:cubicBezTo>
                    <a:pt x="10650" y="236"/>
                    <a:pt x="10414" y="0"/>
                    <a:pt x="10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1" name="Google Shape;1051;p46"/>
            <p:cNvSpPr/>
            <p:nvPr/>
          </p:nvSpPr>
          <p:spPr>
            <a:xfrm>
              <a:off x="4186625" y="3828025"/>
              <a:ext cx="67000" cy="66150"/>
            </a:xfrm>
            <a:custGeom>
              <a:avLst/>
              <a:gdLst/>
              <a:ahLst/>
              <a:cxnLst/>
              <a:rect l="l" t="t" r="r" b="b"/>
              <a:pathLst>
                <a:path w="2680" h="2646" extrusionOk="0">
                  <a:moveTo>
                    <a:pt x="1617" y="525"/>
                  </a:moveTo>
                  <a:cubicBezTo>
                    <a:pt x="1909" y="525"/>
                    <a:pt x="2141" y="761"/>
                    <a:pt x="2141" y="1067"/>
                  </a:cubicBezTo>
                  <a:cubicBezTo>
                    <a:pt x="2128" y="1412"/>
                    <a:pt x="1869" y="1584"/>
                    <a:pt x="1610" y="1584"/>
                  </a:cubicBezTo>
                  <a:cubicBezTo>
                    <a:pt x="1351" y="1584"/>
                    <a:pt x="1092" y="1412"/>
                    <a:pt x="1079" y="1067"/>
                  </a:cubicBezTo>
                  <a:cubicBezTo>
                    <a:pt x="1079" y="761"/>
                    <a:pt x="1312" y="525"/>
                    <a:pt x="1617" y="525"/>
                  </a:cubicBezTo>
                  <a:close/>
                  <a:moveTo>
                    <a:pt x="1600" y="1"/>
                  </a:moveTo>
                  <a:cubicBezTo>
                    <a:pt x="793" y="1"/>
                    <a:pt x="279" y="919"/>
                    <a:pt x="704" y="1604"/>
                  </a:cubicBezTo>
                  <a:lnTo>
                    <a:pt x="97" y="2199"/>
                  </a:lnTo>
                  <a:cubicBezTo>
                    <a:pt x="0" y="2295"/>
                    <a:pt x="0" y="2461"/>
                    <a:pt x="97" y="2574"/>
                  </a:cubicBezTo>
                  <a:cubicBezTo>
                    <a:pt x="151" y="2622"/>
                    <a:pt x="220" y="2646"/>
                    <a:pt x="287" y="2646"/>
                  </a:cubicBezTo>
                  <a:cubicBezTo>
                    <a:pt x="355" y="2646"/>
                    <a:pt x="420" y="2622"/>
                    <a:pt x="468" y="2574"/>
                  </a:cubicBezTo>
                  <a:lnTo>
                    <a:pt x="1079" y="1979"/>
                  </a:lnTo>
                  <a:cubicBezTo>
                    <a:pt x="1242" y="2079"/>
                    <a:pt x="1420" y="2125"/>
                    <a:pt x="1595" y="2125"/>
                  </a:cubicBezTo>
                  <a:cubicBezTo>
                    <a:pt x="2148" y="2125"/>
                    <a:pt x="2679" y="1674"/>
                    <a:pt x="2669" y="1067"/>
                  </a:cubicBezTo>
                  <a:cubicBezTo>
                    <a:pt x="2669" y="469"/>
                    <a:pt x="2198" y="1"/>
                    <a:pt x="1617" y="1"/>
                  </a:cubicBezTo>
                  <a:cubicBezTo>
                    <a:pt x="1611" y="1"/>
                    <a:pt x="1605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2" name="Google Shape;1052;p46"/>
            <p:cNvSpPr/>
            <p:nvPr/>
          </p:nvSpPr>
          <p:spPr>
            <a:xfrm>
              <a:off x="4083225" y="3928100"/>
              <a:ext cx="119275" cy="126100"/>
            </a:xfrm>
            <a:custGeom>
              <a:avLst/>
              <a:gdLst/>
              <a:ahLst/>
              <a:cxnLst/>
              <a:rect l="l" t="t" r="r" b="b"/>
              <a:pathLst>
                <a:path w="4771" h="5044" extrusionOk="0">
                  <a:moveTo>
                    <a:pt x="2390" y="541"/>
                  </a:moveTo>
                  <a:cubicBezTo>
                    <a:pt x="3188" y="541"/>
                    <a:pt x="3984" y="672"/>
                    <a:pt x="4233" y="934"/>
                  </a:cubicBezTo>
                  <a:cubicBezTo>
                    <a:pt x="3977" y="1190"/>
                    <a:pt x="3178" y="1318"/>
                    <a:pt x="2380" y="1318"/>
                  </a:cubicBezTo>
                  <a:cubicBezTo>
                    <a:pt x="1583" y="1318"/>
                    <a:pt x="787" y="1190"/>
                    <a:pt x="538" y="934"/>
                  </a:cubicBezTo>
                  <a:cubicBezTo>
                    <a:pt x="793" y="672"/>
                    <a:pt x="1593" y="541"/>
                    <a:pt x="2390" y="541"/>
                  </a:cubicBezTo>
                  <a:close/>
                  <a:moveTo>
                    <a:pt x="4233" y="1545"/>
                  </a:moveTo>
                  <a:lnTo>
                    <a:pt x="4233" y="1986"/>
                  </a:lnTo>
                  <a:cubicBezTo>
                    <a:pt x="3997" y="2249"/>
                    <a:pt x="3188" y="2380"/>
                    <a:pt x="2379" y="2380"/>
                  </a:cubicBezTo>
                  <a:cubicBezTo>
                    <a:pt x="1569" y="2380"/>
                    <a:pt x="760" y="2249"/>
                    <a:pt x="525" y="1986"/>
                  </a:cubicBezTo>
                  <a:lnTo>
                    <a:pt x="525" y="1545"/>
                  </a:lnTo>
                  <a:cubicBezTo>
                    <a:pt x="1057" y="1759"/>
                    <a:pt x="1721" y="1866"/>
                    <a:pt x="2384" y="1866"/>
                  </a:cubicBezTo>
                  <a:cubicBezTo>
                    <a:pt x="3046" y="1866"/>
                    <a:pt x="3706" y="1759"/>
                    <a:pt x="4233" y="1545"/>
                  </a:cubicBezTo>
                  <a:close/>
                  <a:moveTo>
                    <a:pt x="4233" y="2607"/>
                  </a:moveTo>
                  <a:lnTo>
                    <a:pt x="4233" y="3039"/>
                  </a:lnTo>
                  <a:cubicBezTo>
                    <a:pt x="3997" y="3308"/>
                    <a:pt x="3188" y="3442"/>
                    <a:pt x="2379" y="3442"/>
                  </a:cubicBezTo>
                  <a:cubicBezTo>
                    <a:pt x="1569" y="3442"/>
                    <a:pt x="760" y="3308"/>
                    <a:pt x="525" y="3039"/>
                  </a:cubicBezTo>
                  <a:lnTo>
                    <a:pt x="525" y="2607"/>
                  </a:lnTo>
                  <a:cubicBezTo>
                    <a:pt x="1057" y="2815"/>
                    <a:pt x="1721" y="2918"/>
                    <a:pt x="2384" y="2918"/>
                  </a:cubicBezTo>
                  <a:cubicBezTo>
                    <a:pt x="3046" y="2918"/>
                    <a:pt x="3706" y="2815"/>
                    <a:pt x="4233" y="2607"/>
                  </a:cubicBezTo>
                  <a:close/>
                  <a:moveTo>
                    <a:pt x="4233" y="3673"/>
                  </a:moveTo>
                  <a:lnTo>
                    <a:pt x="4233" y="4101"/>
                  </a:lnTo>
                  <a:cubicBezTo>
                    <a:pt x="4163" y="4214"/>
                    <a:pt x="3539" y="4503"/>
                    <a:pt x="2377" y="4503"/>
                  </a:cubicBezTo>
                  <a:cubicBezTo>
                    <a:pt x="1215" y="4503"/>
                    <a:pt x="594" y="4214"/>
                    <a:pt x="525" y="4101"/>
                  </a:cubicBezTo>
                  <a:lnTo>
                    <a:pt x="525" y="3673"/>
                  </a:lnTo>
                  <a:cubicBezTo>
                    <a:pt x="1057" y="3880"/>
                    <a:pt x="1721" y="3984"/>
                    <a:pt x="2384" y="3984"/>
                  </a:cubicBezTo>
                  <a:cubicBezTo>
                    <a:pt x="3046" y="3984"/>
                    <a:pt x="3706" y="3880"/>
                    <a:pt x="4233" y="3673"/>
                  </a:cubicBezTo>
                  <a:close/>
                  <a:moveTo>
                    <a:pt x="2380" y="1"/>
                  </a:moveTo>
                  <a:cubicBezTo>
                    <a:pt x="1189" y="1"/>
                    <a:pt x="0" y="312"/>
                    <a:pt x="0" y="934"/>
                  </a:cubicBezTo>
                  <a:lnTo>
                    <a:pt x="0" y="4101"/>
                  </a:lnTo>
                  <a:cubicBezTo>
                    <a:pt x="0" y="4835"/>
                    <a:pt x="1494" y="5044"/>
                    <a:pt x="2377" y="5044"/>
                  </a:cubicBezTo>
                  <a:cubicBezTo>
                    <a:pt x="3263" y="5044"/>
                    <a:pt x="4770" y="4835"/>
                    <a:pt x="4770" y="4101"/>
                  </a:cubicBezTo>
                  <a:lnTo>
                    <a:pt x="4770" y="934"/>
                  </a:lnTo>
                  <a:cubicBezTo>
                    <a:pt x="4764" y="312"/>
                    <a:pt x="3571" y="1"/>
                    <a:pt x="2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3" name="Google Shape;1053;p46"/>
            <p:cNvSpPr/>
            <p:nvPr/>
          </p:nvSpPr>
          <p:spPr>
            <a:xfrm>
              <a:off x="4216325" y="4024400"/>
              <a:ext cx="67425" cy="13200"/>
            </a:xfrm>
            <a:custGeom>
              <a:avLst/>
              <a:gdLst/>
              <a:ahLst/>
              <a:cxnLst/>
              <a:rect l="l" t="t" r="r" b="b"/>
              <a:pathLst>
                <a:path w="2697" h="528" extrusionOk="0">
                  <a:moveTo>
                    <a:pt x="346" y="0"/>
                  </a:moveTo>
                  <a:cubicBezTo>
                    <a:pt x="1" y="17"/>
                    <a:pt x="1" y="528"/>
                    <a:pt x="346" y="528"/>
                  </a:cubicBezTo>
                  <a:lnTo>
                    <a:pt x="2407" y="528"/>
                  </a:lnTo>
                  <a:cubicBezTo>
                    <a:pt x="2530" y="528"/>
                    <a:pt x="2656" y="445"/>
                    <a:pt x="2670" y="305"/>
                  </a:cubicBezTo>
                  <a:cubicBezTo>
                    <a:pt x="2696" y="140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4" name="Google Shape;1054;p46"/>
            <p:cNvSpPr/>
            <p:nvPr/>
          </p:nvSpPr>
          <p:spPr>
            <a:xfrm>
              <a:off x="4216325" y="3998175"/>
              <a:ext cx="67425" cy="13125"/>
            </a:xfrm>
            <a:custGeom>
              <a:avLst/>
              <a:gdLst/>
              <a:ahLst/>
              <a:cxnLst/>
              <a:rect l="l" t="t" r="r" b="b"/>
              <a:pathLst>
                <a:path w="2697" h="525" extrusionOk="0">
                  <a:moveTo>
                    <a:pt x="346" y="0"/>
                  </a:moveTo>
                  <a:cubicBezTo>
                    <a:pt x="1" y="0"/>
                    <a:pt x="1" y="511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8"/>
                    <a:pt x="2670" y="302"/>
                  </a:cubicBezTo>
                  <a:cubicBezTo>
                    <a:pt x="2696" y="136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5" name="Google Shape;1055;p46"/>
            <p:cNvSpPr/>
            <p:nvPr/>
          </p:nvSpPr>
          <p:spPr>
            <a:xfrm>
              <a:off x="4216325" y="3971525"/>
              <a:ext cx="67425" cy="13125"/>
            </a:xfrm>
            <a:custGeom>
              <a:avLst/>
              <a:gdLst/>
              <a:ahLst/>
              <a:cxnLst/>
              <a:rect l="l" t="t" r="r" b="b"/>
              <a:pathLst>
                <a:path w="2697" h="525" extrusionOk="0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9"/>
                    <a:pt x="2670" y="306"/>
                  </a:cubicBezTo>
                  <a:cubicBezTo>
                    <a:pt x="2696" y="140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6" name="Google Shape;1056;p46"/>
            <p:cNvSpPr/>
            <p:nvPr/>
          </p:nvSpPr>
          <p:spPr>
            <a:xfrm>
              <a:off x="4216325" y="3944875"/>
              <a:ext cx="67425" cy="13575"/>
            </a:xfrm>
            <a:custGeom>
              <a:avLst/>
              <a:gdLst/>
              <a:ahLst/>
              <a:cxnLst/>
              <a:rect l="l" t="t" r="r" b="b"/>
              <a:pathLst>
                <a:path w="2697" h="543" extrusionOk="0">
                  <a:moveTo>
                    <a:pt x="346" y="1"/>
                  </a:moveTo>
                  <a:cubicBezTo>
                    <a:pt x="1" y="14"/>
                    <a:pt x="1" y="525"/>
                    <a:pt x="346" y="542"/>
                  </a:cubicBezTo>
                  <a:lnTo>
                    <a:pt x="2407" y="542"/>
                  </a:lnTo>
                  <a:cubicBezTo>
                    <a:pt x="2530" y="542"/>
                    <a:pt x="2656" y="442"/>
                    <a:pt x="2670" y="306"/>
                  </a:cubicBezTo>
                  <a:cubicBezTo>
                    <a:pt x="2696" y="154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77" name="Google Shape;1077;p46"/>
          <p:cNvGrpSpPr/>
          <p:nvPr/>
        </p:nvGrpSpPr>
        <p:grpSpPr>
          <a:xfrm>
            <a:off x="1083474" y="1257410"/>
            <a:ext cx="338875" cy="339300"/>
            <a:chOff x="2518850" y="3256400"/>
            <a:chExt cx="338875" cy="339300"/>
          </a:xfrm>
        </p:grpSpPr>
        <p:sp>
          <p:nvSpPr>
            <p:cNvPr id="1078" name="Google Shape;1078;p46"/>
            <p:cNvSpPr/>
            <p:nvPr/>
          </p:nvSpPr>
          <p:spPr>
            <a:xfrm>
              <a:off x="2518850" y="3256400"/>
              <a:ext cx="338875" cy="339300"/>
            </a:xfrm>
            <a:custGeom>
              <a:avLst/>
              <a:gdLst/>
              <a:ahLst/>
              <a:cxnLst/>
              <a:rect l="l" t="t" r="r" b="b"/>
              <a:pathLst>
                <a:path w="13555" h="13572" extrusionOk="0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9" name="Google Shape;1079;p46"/>
            <p:cNvSpPr/>
            <p:nvPr/>
          </p:nvSpPr>
          <p:spPr>
            <a:xfrm>
              <a:off x="25838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0" name="Google Shape;1080;p46"/>
            <p:cNvSpPr/>
            <p:nvPr/>
          </p:nvSpPr>
          <p:spPr>
            <a:xfrm>
              <a:off x="25838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1" name="Google Shape;1081;p46"/>
            <p:cNvSpPr/>
            <p:nvPr/>
          </p:nvSpPr>
          <p:spPr>
            <a:xfrm>
              <a:off x="26955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2" name="Google Shape;1082;p46"/>
            <p:cNvSpPr/>
            <p:nvPr/>
          </p:nvSpPr>
          <p:spPr>
            <a:xfrm>
              <a:off x="26955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83" name="Google Shape;1083;p46"/>
          <p:cNvGrpSpPr/>
          <p:nvPr/>
        </p:nvGrpSpPr>
        <p:grpSpPr>
          <a:xfrm>
            <a:off x="6872141" y="1273663"/>
            <a:ext cx="339200" cy="304700"/>
            <a:chOff x="2489475" y="2699700"/>
            <a:chExt cx="339200" cy="304700"/>
          </a:xfrm>
        </p:grpSpPr>
        <p:sp>
          <p:nvSpPr>
            <p:cNvPr id="1084" name="Google Shape;1084;p46"/>
            <p:cNvSpPr/>
            <p:nvPr/>
          </p:nvSpPr>
          <p:spPr>
            <a:xfrm>
              <a:off x="2489475" y="2699700"/>
              <a:ext cx="339200" cy="304700"/>
            </a:xfrm>
            <a:custGeom>
              <a:avLst/>
              <a:gdLst/>
              <a:ahLst/>
              <a:cxnLst/>
              <a:rect l="l" t="t" r="r" b="b"/>
              <a:pathLst>
                <a:path w="13568" h="12188" extrusionOk="0">
                  <a:moveTo>
                    <a:pt x="12765" y="539"/>
                  </a:moveTo>
                  <a:cubicBezTo>
                    <a:pt x="12917" y="539"/>
                    <a:pt x="13043" y="652"/>
                    <a:pt x="13043" y="804"/>
                  </a:cubicBezTo>
                  <a:lnTo>
                    <a:pt x="13043" y="1067"/>
                  </a:lnTo>
                  <a:lnTo>
                    <a:pt x="4509" y="1067"/>
                  </a:lnTo>
                  <a:cubicBezTo>
                    <a:pt x="4356" y="1067"/>
                    <a:pt x="4246" y="1189"/>
                    <a:pt x="4246" y="1329"/>
                  </a:cubicBezTo>
                  <a:cubicBezTo>
                    <a:pt x="4246" y="1770"/>
                    <a:pt x="3885" y="2132"/>
                    <a:pt x="3443" y="2132"/>
                  </a:cubicBezTo>
                  <a:lnTo>
                    <a:pt x="539" y="2132"/>
                  </a:lnTo>
                  <a:lnTo>
                    <a:pt x="539" y="804"/>
                  </a:lnTo>
                  <a:cubicBezTo>
                    <a:pt x="539" y="652"/>
                    <a:pt x="648" y="539"/>
                    <a:pt x="801" y="539"/>
                  </a:cubicBezTo>
                  <a:close/>
                  <a:moveTo>
                    <a:pt x="13043" y="1591"/>
                  </a:moveTo>
                  <a:lnTo>
                    <a:pt x="13043" y="11397"/>
                  </a:lnTo>
                  <a:cubicBezTo>
                    <a:pt x="13043" y="11537"/>
                    <a:pt x="12917" y="11659"/>
                    <a:pt x="12765" y="11659"/>
                  </a:cubicBezTo>
                  <a:lnTo>
                    <a:pt x="801" y="11659"/>
                  </a:lnTo>
                  <a:cubicBezTo>
                    <a:pt x="648" y="11659"/>
                    <a:pt x="539" y="11537"/>
                    <a:pt x="539" y="11397"/>
                  </a:cubicBezTo>
                  <a:lnTo>
                    <a:pt x="539" y="2657"/>
                  </a:lnTo>
                  <a:lnTo>
                    <a:pt x="3443" y="2657"/>
                  </a:lnTo>
                  <a:cubicBezTo>
                    <a:pt x="4094" y="2657"/>
                    <a:pt x="4618" y="2199"/>
                    <a:pt x="4744" y="1591"/>
                  </a:cubicBezTo>
                  <a:close/>
                  <a:moveTo>
                    <a:pt x="801" y="1"/>
                  </a:moveTo>
                  <a:cubicBezTo>
                    <a:pt x="359" y="1"/>
                    <a:pt x="1" y="360"/>
                    <a:pt x="1" y="804"/>
                  </a:cubicBezTo>
                  <a:lnTo>
                    <a:pt x="1" y="11397"/>
                  </a:lnTo>
                  <a:cubicBezTo>
                    <a:pt x="1" y="11842"/>
                    <a:pt x="359" y="12187"/>
                    <a:pt x="801" y="12187"/>
                  </a:cubicBezTo>
                  <a:lnTo>
                    <a:pt x="12765" y="12187"/>
                  </a:lnTo>
                  <a:cubicBezTo>
                    <a:pt x="13209" y="12187"/>
                    <a:pt x="13568" y="11842"/>
                    <a:pt x="13568" y="11397"/>
                  </a:cubicBezTo>
                  <a:lnTo>
                    <a:pt x="13568" y="804"/>
                  </a:lnTo>
                  <a:cubicBezTo>
                    <a:pt x="13568" y="360"/>
                    <a:pt x="13209" y="1"/>
                    <a:pt x="12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5" name="Google Shape;1085;p46"/>
            <p:cNvSpPr/>
            <p:nvPr/>
          </p:nvSpPr>
          <p:spPr>
            <a:xfrm>
              <a:off x="2568975" y="2726100"/>
              <a:ext cx="13475" cy="13400"/>
            </a:xfrm>
            <a:custGeom>
              <a:avLst/>
              <a:gdLst/>
              <a:ahLst/>
              <a:cxnLst/>
              <a:rect l="l" t="t" r="r" b="b"/>
              <a:pathLst>
                <a:path w="539" h="536" extrusionOk="0">
                  <a:moveTo>
                    <a:pt x="270" y="1"/>
                  </a:moveTo>
                  <a:cubicBezTo>
                    <a:pt x="139" y="1"/>
                    <a:pt x="8" y="87"/>
                    <a:pt x="1" y="260"/>
                  </a:cubicBezTo>
                  <a:cubicBezTo>
                    <a:pt x="1" y="412"/>
                    <a:pt x="124" y="535"/>
                    <a:pt x="263" y="535"/>
                  </a:cubicBezTo>
                  <a:cubicBezTo>
                    <a:pt x="416" y="535"/>
                    <a:pt x="539" y="412"/>
                    <a:pt x="539" y="260"/>
                  </a:cubicBezTo>
                  <a:cubicBezTo>
                    <a:pt x="532" y="87"/>
                    <a:pt x="401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6" name="Google Shape;1086;p46"/>
            <p:cNvSpPr/>
            <p:nvPr/>
          </p:nvSpPr>
          <p:spPr>
            <a:xfrm>
              <a:off x="2542675" y="2726100"/>
              <a:ext cx="13225" cy="13400"/>
            </a:xfrm>
            <a:custGeom>
              <a:avLst/>
              <a:gdLst/>
              <a:ahLst/>
              <a:cxnLst/>
              <a:rect l="l" t="t" r="r" b="b"/>
              <a:pathLst>
                <a:path w="529" h="536" extrusionOk="0">
                  <a:moveTo>
                    <a:pt x="263" y="1"/>
                  </a:moveTo>
                  <a:cubicBezTo>
                    <a:pt x="135" y="1"/>
                    <a:pt x="7" y="87"/>
                    <a:pt x="1" y="260"/>
                  </a:cubicBezTo>
                  <a:cubicBezTo>
                    <a:pt x="1" y="412"/>
                    <a:pt x="113" y="535"/>
                    <a:pt x="263" y="535"/>
                  </a:cubicBezTo>
                  <a:cubicBezTo>
                    <a:pt x="402" y="535"/>
                    <a:pt x="528" y="412"/>
                    <a:pt x="528" y="260"/>
                  </a:cubicBezTo>
                  <a:cubicBezTo>
                    <a:pt x="520" y="87"/>
                    <a:pt x="391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7" name="Google Shape;1087;p46"/>
            <p:cNvSpPr/>
            <p:nvPr/>
          </p:nvSpPr>
          <p:spPr>
            <a:xfrm>
              <a:off x="2516050" y="2726100"/>
              <a:ext cx="13200" cy="13400"/>
            </a:xfrm>
            <a:custGeom>
              <a:avLst/>
              <a:gdLst/>
              <a:ahLst/>
              <a:cxnLst/>
              <a:rect l="l" t="t" r="r" b="b"/>
              <a:pathLst>
                <a:path w="528" h="536" extrusionOk="0">
                  <a:moveTo>
                    <a:pt x="265" y="1"/>
                  </a:moveTo>
                  <a:cubicBezTo>
                    <a:pt x="137" y="1"/>
                    <a:pt x="8" y="87"/>
                    <a:pt x="0" y="260"/>
                  </a:cubicBezTo>
                  <a:cubicBezTo>
                    <a:pt x="0" y="412"/>
                    <a:pt x="126" y="535"/>
                    <a:pt x="266" y="535"/>
                  </a:cubicBezTo>
                  <a:cubicBezTo>
                    <a:pt x="415" y="535"/>
                    <a:pt x="528" y="412"/>
                    <a:pt x="528" y="260"/>
                  </a:cubicBezTo>
                  <a:cubicBezTo>
                    <a:pt x="521" y="87"/>
                    <a:pt x="393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8" name="Google Shape;1088;p46"/>
            <p:cNvSpPr/>
            <p:nvPr/>
          </p:nvSpPr>
          <p:spPr>
            <a:xfrm>
              <a:off x="2516050" y="2779225"/>
              <a:ext cx="286000" cy="198850"/>
            </a:xfrm>
            <a:custGeom>
              <a:avLst/>
              <a:gdLst/>
              <a:ahLst/>
              <a:cxnLst/>
              <a:rect l="l" t="t" r="r" b="b"/>
              <a:pathLst>
                <a:path w="11440" h="7954" extrusionOk="0">
                  <a:moveTo>
                    <a:pt x="10915" y="528"/>
                  </a:moveTo>
                  <a:lnTo>
                    <a:pt x="10915" y="7416"/>
                  </a:lnTo>
                  <a:lnTo>
                    <a:pt x="528" y="7416"/>
                  </a:lnTo>
                  <a:lnTo>
                    <a:pt x="528" y="528"/>
                  </a:lnTo>
                  <a:close/>
                  <a:moveTo>
                    <a:pt x="266" y="0"/>
                  </a:moveTo>
                  <a:cubicBezTo>
                    <a:pt x="126" y="0"/>
                    <a:pt x="0" y="126"/>
                    <a:pt x="0" y="262"/>
                  </a:cubicBezTo>
                  <a:lnTo>
                    <a:pt x="0" y="7678"/>
                  </a:lnTo>
                  <a:cubicBezTo>
                    <a:pt x="0" y="7831"/>
                    <a:pt x="126" y="7954"/>
                    <a:pt x="266" y="7954"/>
                  </a:cubicBezTo>
                  <a:lnTo>
                    <a:pt x="11177" y="7954"/>
                  </a:lnTo>
                  <a:cubicBezTo>
                    <a:pt x="11330" y="7954"/>
                    <a:pt x="11439" y="7831"/>
                    <a:pt x="11439" y="7678"/>
                  </a:cubicBezTo>
                  <a:lnTo>
                    <a:pt x="11439" y="262"/>
                  </a:lnTo>
                  <a:cubicBezTo>
                    <a:pt x="11439" y="126"/>
                    <a:pt x="11330" y="0"/>
                    <a:pt x="1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9" name="Google Shape;1089;p46"/>
            <p:cNvSpPr/>
            <p:nvPr/>
          </p:nvSpPr>
          <p:spPr>
            <a:xfrm>
              <a:off x="2538525" y="2805850"/>
              <a:ext cx="235225" cy="145600"/>
            </a:xfrm>
            <a:custGeom>
              <a:avLst/>
              <a:gdLst/>
              <a:ahLst/>
              <a:cxnLst/>
              <a:rect l="l" t="t" r="r" b="b"/>
              <a:pathLst>
                <a:path w="9409" h="5824" extrusionOk="0">
                  <a:moveTo>
                    <a:pt x="6032" y="512"/>
                  </a:moveTo>
                  <a:cubicBezTo>
                    <a:pt x="6225" y="512"/>
                    <a:pt x="6378" y="665"/>
                    <a:pt x="6378" y="857"/>
                  </a:cubicBezTo>
                  <a:cubicBezTo>
                    <a:pt x="6371" y="1086"/>
                    <a:pt x="6205" y="1201"/>
                    <a:pt x="6039" y="1201"/>
                  </a:cubicBezTo>
                  <a:cubicBezTo>
                    <a:pt x="5873" y="1201"/>
                    <a:pt x="5707" y="1086"/>
                    <a:pt x="5700" y="857"/>
                  </a:cubicBezTo>
                  <a:cubicBezTo>
                    <a:pt x="5700" y="665"/>
                    <a:pt x="5853" y="512"/>
                    <a:pt x="6032" y="512"/>
                  </a:cubicBezTo>
                  <a:close/>
                  <a:moveTo>
                    <a:pt x="1192" y="1481"/>
                  </a:moveTo>
                  <a:cubicBezTo>
                    <a:pt x="1385" y="1481"/>
                    <a:pt x="1538" y="1647"/>
                    <a:pt x="1538" y="1826"/>
                  </a:cubicBezTo>
                  <a:cubicBezTo>
                    <a:pt x="1531" y="2056"/>
                    <a:pt x="1365" y="2170"/>
                    <a:pt x="1199" y="2170"/>
                  </a:cubicBezTo>
                  <a:cubicBezTo>
                    <a:pt x="1033" y="2170"/>
                    <a:pt x="867" y="2056"/>
                    <a:pt x="860" y="1826"/>
                  </a:cubicBezTo>
                  <a:cubicBezTo>
                    <a:pt x="844" y="1647"/>
                    <a:pt x="1010" y="1481"/>
                    <a:pt x="1192" y="1481"/>
                  </a:cubicBezTo>
                  <a:close/>
                  <a:moveTo>
                    <a:pt x="3612" y="2949"/>
                  </a:moveTo>
                  <a:cubicBezTo>
                    <a:pt x="3805" y="2949"/>
                    <a:pt x="3958" y="3098"/>
                    <a:pt x="3958" y="3280"/>
                  </a:cubicBezTo>
                  <a:cubicBezTo>
                    <a:pt x="3951" y="3508"/>
                    <a:pt x="3785" y="3622"/>
                    <a:pt x="3619" y="3622"/>
                  </a:cubicBezTo>
                  <a:cubicBezTo>
                    <a:pt x="3453" y="3622"/>
                    <a:pt x="3287" y="3508"/>
                    <a:pt x="3280" y="3280"/>
                  </a:cubicBezTo>
                  <a:cubicBezTo>
                    <a:pt x="3280" y="3098"/>
                    <a:pt x="3433" y="2949"/>
                    <a:pt x="3612" y="2949"/>
                  </a:cubicBezTo>
                  <a:close/>
                  <a:moveTo>
                    <a:pt x="8452" y="2949"/>
                  </a:moveTo>
                  <a:cubicBezTo>
                    <a:pt x="8645" y="2949"/>
                    <a:pt x="8798" y="3098"/>
                    <a:pt x="8798" y="3280"/>
                  </a:cubicBezTo>
                  <a:cubicBezTo>
                    <a:pt x="8798" y="3473"/>
                    <a:pt x="8645" y="3626"/>
                    <a:pt x="8452" y="3626"/>
                  </a:cubicBezTo>
                  <a:cubicBezTo>
                    <a:pt x="8011" y="3612"/>
                    <a:pt x="8011" y="2962"/>
                    <a:pt x="8452" y="2949"/>
                  </a:cubicBezTo>
                  <a:close/>
                  <a:moveTo>
                    <a:pt x="1773" y="2490"/>
                  </a:moveTo>
                  <a:lnTo>
                    <a:pt x="2769" y="3085"/>
                  </a:lnTo>
                  <a:cubicBezTo>
                    <a:pt x="2656" y="3529"/>
                    <a:pt x="2935" y="3997"/>
                    <a:pt x="3333" y="4124"/>
                  </a:cubicBezTo>
                  <a:lnTo>
                    <a:pt x="3333" y="5299"/>
                  </a:lnTo>
                  <a:lnTo>
                    <a:pt x="1468" y="5299"/>
                  </a:lnTo>
                  <a:lnTo>
                    <a:pt x="1468" y="2670"/>
                  </a:lnTo>
                  <a:cubicBezTo>
                    <a:pt x="1577" y="2630"/>
                    <a:pt x="1674" y="2573"/>
                    <a:pt x="1773" y="2490"/>
                  </a:cubicBezTo>
                  <a:close/>
                  <a:moveTo>
                    <a:pt x="5644" y="1647"/>
                  </a:moveTo>
                  <a:cubicBezTo>
                    <a:pt x="5687" y="1661"/>
                    <a:pt x="5727" y="1687"/>
                    <a:pt x="5783" y="1704"/>
                  </a:cubicBezTo>
                  <a:lnTo>
                    <a:pt x="5783" y="5299"/>
                  </a:lnTo>
                  <a:lnTo>
                    <a:pt x="3901" y="5299"/>
                  </a:lnTo>
                  <a:lnTo>
                    <a:pt x="3901" y="4124"/>
                  </a:lnTo>
                  <a:cubicBezTo>
                    <a:pt x="4246" y="4011"/>
                    <a:pt x="4495" y="3679"/>
                    <a:pt x="4495" y="3294"/>
                  </a:cubicBezTo>
                  <a:cubicBezTo>
                    <a:pt x="4495" y="3141"/>
                    <a:pt x="4469" y="3015"/>
                    <a:pt x="4399" y="2892"/>
                  </a:cubicBezTo>
                  <a:lnTo>
                    <a:pt x="5644" y="1647"/>
                  </a:lnTo>
                  <a:close/>
                  <a:moveTo>
                    <a:pt x="6447" y="1647"/>
                  </a:moveTo>
                  <a:lnTo>
                    <a:pt x="7679" y="2892"/>
                  </a:lnTo>
                  <a:cubicBezTo>
                    <a:pt x="7430" y="3363"/>
                    <a:pt x="7692" y="3971"/>
                    <a:pt x="8190" y="4124"/>
                  </a:cubicBezTo>
                  <a:lnTo>
                    <a:pt x="8190" y="5299"/>
                  </a:lnTo>
                  <a:lnTo>
                    <a:pt x="6308" y="5299"/>
                  </a:lnTo>
                  <a:lnTo>
                    <a:pt x="6308" y="1704"/>
                  </a:lnTo>
                  <a:cubicBezTo>
                    <a:pt x="6351" y="1687"/>
                    <a:pt x="6404" y="1661"/>
                    <a:pt x="6447" y="1647"/>
                  </a:cubicBezTo>
                  <a:close/>
                  <a:moveTo>
                    <a:pt x="6015" y="1"/>
                  </a:moveTo>
                  <a:cubicBezTo>
                    <a:pt x="5387" y="1"/>
                    <a:pt x="4956" y="713"/>
                    <a:pt x="5259" y="1259"/>
                  </a:cubicBezTo>
                  <a:lnTo>
                    <a:pt x="4014" y="2517"/>
                  </a:lnTo>
                  <a:cubicBezTo>
                    <a:pt x="3894" y="2452"/>
                    <a:pt x="3757" y="2421"/>
                    <a:pt x="3620" y="2421"/>
                  </a:cubicBezTo>
                  <a:cubicBezTo>
                    <a:pt x="3408" y="2421"/>
                    <a:pt x="3196" y="2495"/>
                    <a:pt x="3045" y="2630"/>
                  </a:cubicBezTo>
                  <a:lnTo>
                    <a:pt x="2049" y="2036"/>
                  </a:lnTo>
                  <a:cubicBezTo>
                    <a:pt x="2170" y="1501"/>
                    <a:pt x="1754" y="970"/>
                    <a:pt x="1212" y="970"/>
                  </a:cubicBezTo>
                  <a:cubicBezTo>
                    <a:pt x="1206" y="970"/>
                    <a:pt x="1199" y="970"/>
                    <a:pt x="1192" y="970"/>
                  </a:cubicBezTo>
                  <a:cubicBezTo>
                    <a:pt x="196" y="983"/>
                    <a:pt x="1" y="2351"/>
                    <a:pt x="927" y="2670"/>
                  </a:cubicBezTo>
                  <a:lnTo>
                    <a:pt x="927" y="5299"/>
                  </a:lnTo>
                  <a:lnTo>
                    <a:pt x="595" y="5299"/>
                  </a:lnTo>
                  <a:cubicBezTo>
                    <a:pt x="236" y="5312"/>
                    <a:pt x="236" y="5810"/>
                    <a:pt x="595" y="5823"/>
                  </a:cubicBezTo>
                  <a:lnTo>
                    <a:pt x="9060" y="5823"/>
                  </a:lnTo>
                  <a:cubicBezTo>
                    <a:pt x="9408" y="5810"/>
                    <a:pt x="9408" y="5312"/>
                    <a:pt x="9060" y="5299"/>
                  </a:cubicBezTo>
                  <a:lnTo>
                    <a:pt x="8715" y="5299"/>
                  </a:lnTo>
                  <a:lnTo>
                    <a:pt x="8715" y="4124"/>
                  </a:lnTo>
                  <a:cubicBezTo>
                    <a:pt x="9076" y="4011"/>
                    <a:pt x="9325" y="3679"/>
                    <a:pt x="9325" y="3294"/>
                  </a:cubicBezTo>
                  <a:cubicBezTo>
                    <a:pt x="9336" y="2789"/>
                    <a:pt x="8905" y="2418"/>
                    <a:pt x="8446" y="2418"/>
                  </a:cubicBezTo>
                  <a:cubicBezTo>
                    <a:pt x="8313" y="2418"/>
                    <a:pt x="8178" y="2449"/>
                    <a:pt x="8051" y="2517"/>
                  </a:cubicBezTo>
                  <a:lnTo>
                    <a:pt x="6806" y="1259"/>
                  </a:lnTo>
                  <a:cubicBezTo>
                    <a:pt x="7108" y="713"/>
                    <a:pt x="6678" y="1"/>
                    <a:pt x="6050" y="1"/>
                  </a:cubicBezTo>
                  <a:cubicBezTo>
                    <a:pt x="6044" y="1"/>
                    <a:pt x="6038" y="1"/>
                    <a:pt x="6032" y="1"/>
                  </a:cubicBezTo>
                  <a:cubicBezTo>
                    <a:pt x="6027" y="1"/>
                    <a:pt x="6021" y="1"/>
                    <a:pt x="6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328" y="-138107"/>
            <a:ext cx="6355500" cy="16101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466" y="1368772"/>
            <a:ext cx="8074429" cy="3189976"/>
          </a:xfrm>
        </p:spPr>
        <p:txBody>
          <a:bodyPr/>
          <a:lstStyle/>
          <a:p>
            <a:pPr algn="l"/>
            <a:r>
              <a:rPr lang="en-US" b="1" dirty="0"/>
              <a:t>1. Lifestyle Factors Matter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Health-related habits like </a:t>
            </a:r>
            <a:r>
              <a:rPr lang="en-US" sz="1200" b="1" dirty="0"/>
              <a:t>healthy eating</a:t>
            </a:r>
            <a:r>
              <a:rPr lang="en-US" sz="1200" dirty="0"/>
              <a:t> and </a:t>
            </a:r>
            <a:r>
              <a:rPr lang="en-US" sz="1200" b="1" dirty="0"/>
              <a:t>active lifestyles</a:t>
            </a:r>
            <a:r>
              <a:rPr lang="en-US" sz="1200" dirty="0"/>
              <a:t> show subtle but meaningful correlations with employee compensation</a:t>
            </a:r>
            <a:r>
              <a:rPr lang="en-US" sz="1200" dirty="0" smtClean="0"/>
              <a:t>.</a:t>
            </a:r>
          </a:p>
          <a:p>
            <a:pPr marL="152400" indent="0" algn="l"/>
            <a:endParaRPr lang="en-US" dirty="0"/>
          </a:p>
          <a:p>
            <a:pPr algn="l"/>
            <a:r>
              <a:rPr lang="en-US" b="1" dirty="0"/>
              <a:t>2. Health Metrics as Proxies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Even </a:t>
            </a:r>
            <a:r>
              <a:rPr lang="en-US" sz="1200" b="1" dirty="0"/>
              <a:t>simple wellness indicators</a:t>
            </a:r>
            <a:r>
              <a:rPr lang="en-US" sz="1200" dirty="0"/>
              <a:t> can provide valuable insights into the </a:t>
            </a:r>
            <a:r>
              <a:rPr lang="en-US" sz="1200" b="1" dirty="0"/>
              <a:t>well-being</a:t>
            </a:r>
            <a:r>
              <a:rPr lang="en-US" sz="1200" dirty="0"/>
              <a:t> and potential </a:t>
            </a:r>
            <a:r>
              <a:rPr lang="en-US" sz="1200" b="1" dirty="0"/>
              <a:t>engagement levels</a:t>
            </a:r>
            <a:r>
              <a:rPr lang="en-US" sz="1200" dirty="0"/>
              <a:t> of employees</a:t>
            </a:r>
            <a:r>
              <a:rPr lang="en-US" sz="1200" dirty="0" smtClean="0"/>
              <a:t>.</a:t>
            </a:r>
          </a:p>
          <a:p>
            <a:pPr marL="152400" indent="0" algn="l"/>
            <a:endParaRPr lang="en-US" dirty="0"/>
          </a:p>
          <a:p>
            <a:pPr algn="l"/>
            <a:r>
              <a:rPr lang="en-US" b="1" dirty="0"/>
              <a:t>3. Future Analysis Potential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Integrating </a:t>
            </a:r>
            <a:r>
              <a:rPr lang="en-US" sz="1200" b="1" dirty="0"/>
              <a:t>additional variables</a:t>
            </a:r>
            <a:r>
              <a:rPr lang="en-US" sz="1200" dirty="0"/>
              <a:t> such as: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1200" b="1" dirty="0"/>
              <a:t>Performance ratings</a:t>
            </a:r>
            <a:endParaRPr lang="en-US" sz="12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1200" b="1" dirty="0"/>
              <a:t>Educational background</a:t>
            </a:r>
            <a:endParaRPr lang="en-US" sz="12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1200" b="1" dirty="0"/>
              <a:t>Job role or tenure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can lead to deeper, more actionable insights.</a:t>
            </a:r>
          </a:p>
          <a:p>
            <a:pPr marL="152400" indent="0" algn="l"/>
            <a:endParaRPr lang="en-US" dirty="0" smtClean="0"/>
          </a:p>
          <a:p>
            <a:pPr algn="l"/>
            <a:endParaRPr lang="en-US" dirty="0"/>
          </a:p>
        </p:txBody>
      </p:sp>
      <p:pic>
        <p:nvPicPr>
          <p:cNvPr id="5" name="Google Shape;2179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9312" y="301325"/>
            <a:ext cx="1270420" cy="1270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" name="Google Shape;1105;p48"/>
          <p:cNvGrpSpPr/>
          <p:nvPr/>
        </p:nvGrpSpPr>
        <p:grpSpPr>
          <a:xfrm rot="10800000" flipH="1">
            <a:off x="-1544774" y="3310577"/>
            <a:ext cx="3296400" cy="703085"/>
            <a:chOff x="-12" y="3628590"/>
            <a:chExt cx="3296400" cy="703085"/>
          </a:xfrm>
        </p:grpSpPr>
        <p:grpSp>
          <p:nvGrpSpPr>
            <p:cNvPr id="1106" name="Google Shape;1106;p4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107" name="Google Shape;1107;p4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8" name="Google Shape;1108;p4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109" name="Google Shape;1109;p4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110" name="Google Shape;1110;p4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11" name="Google Shape;1111;p4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112" name="Google Shape;1112;p4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113" name="Google Shape;1113;p4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14" name="Google Shape;1114;p4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115" name="Google Shape;1115;p4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116" name="Google Shape;1116;p4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7" name="Google Shape;1117;p4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118" name="Google Shape;1118;p48"/>
          <p:cNvGrpSpPr/>
          <p:nvPr/>
        </p:nvGrpSpPr>
        <p:grpSpPr>
          <a:xfrm>
            <a:off x="7285859" y="749790"/>
            <a:ext cx="4555892" cy="541915"/>
            <a:chOff x="5950034" y="3380465"/>
            <a:chExt cx="4555892" cy="541915"/>
          </a:xfrm>
        </p:grpSpPr>
        <p:grpSp>
          <p:nvGrpSpPr>
            <p:cNvPr id="1119" name="Google Shape;1119;p48"/>
            <p:cNvGrpSpPr/>
            <p:nvPr/>
          </p:nvGrpSpPr>
          <p:grpSpPr>
            <a:xfrm rot="10800000">
              <a:off x="5950034" y="3380473"/>
              <a:ext cx="2877996" cy="223763"/>
              <a:chOff x="1748550" y="2064750"/>
              <a:chExt cx="3573375" cy="277863"/>
            </a:xfrm>
          </p:grpSpPr>
          <p:sp>
            <p:nvSpPr>
              <p:cNvPr id="1120" name="Google Shape;1120;p48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21" name="Google Shape;1121;p48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122" name="Google Shape;1122;p48"/>
            <p:cNvGrpSpPr/>
            <p:nvPr/>
          </p:nvGrpSpPr>
          <p:grpSpPr>
            <a:xfrm rot="10800000">
              <a:off x="6396949" y="3536010"/>
              <a:ext cx="2430997" cy="185534"/>
              <a:chOff x="1748547" y="1392116"/>
              <a:chExt cx="5911958" cy="451312"/>
            </a:xfrm>
          </p:grpSpPr>
          <p:sp>
            <p:nvSpPr>
              <p:cNvPr id="1123" name="Google Shape;1123;p48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24" name="Google Shape;1124;p48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125" name="Google Shape;1125;p48"/>
            <p:cNvGrpSpPr/>
            <p:nvPr/>
          </p:nvGrpSpPr>
          <p:grpSpPr>
            <a:xfrm rot="10800000">
              <a:off x="6906834" y="3876719"/>
              <a:ext cx="3140396" cy="45661"/>
              <a:chOff x="234768" y="1449263"/>
              <a:chExt cx="3899175" cy="56700"/>
            </a:xfrm>
          </p:grpSpPr>
          <p:cxnSp>
            <p:nvCxnSpPr>
              <p:cNvPr id="1126" name="Google Shape;1126;p48"/>
              <p:cNvCxnSpPr/>
              <p:nvPr/>
            </p:nvCxnSpPr>
            <p:spPr>
              <a:xfrm>
                <a:off x="234768" y="1477625"/>
                <a:ext cx="3846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27" name="Google Shape;1127;p48"/>
              <p:cNvSpPr/>
              <p:nvPr/>
            </p:nvSpPr>
            <p:spPr>
              <a:xfrm>
                <a:off x="4077243" y="1449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128" name="Google Shape;1128;p48"/>
            <p:cNvGrpSpPr/>
            <p:nvPr/>
          </p:nvGrpSpPr>
          <p:grpSpPr>
            <a:xfrm flipH="1">
              <a:off x="7495622" y="3380465"/>
              <a:ext cx="3010303" cy="45661"/>
              <a:chOff x="1766900" y="2869225"/>
              <a:chExt cx="3737650" cy="56700"/>
            </a:xfrm>
          </p:grpSpPr>
          <p:cxnSp>
            <p:nvCxnSpPr>
              <p:cNvPr id="1129" name="Google Shape;1129;p4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0" name="Google Shape;1130;p4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2965174" y="696761"/>
            <a:ext cx="321365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dirty="0" smtClean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THANKS!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49896" y="1782417"/>
            <a:ext cx="5234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I’d be happy to address any thoughts, feedback, or insights you may have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579</Words>
  <Application>Microsoft Office PowerPoint</Application>
  <PresentationFormat>On-screen Show (16:9)</PresentationFormat>
  <Paragraphs>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Barlow</vt:lpstr>
      <vt:lpstr>Arial</vt:lpstr>
      <vt:lpstr>Segoe UI Black</vt:lpstr>
      <vt:lpstr>Poppins ExtraBold</vt:lpstr>
      <vt:lpstr>Segoe UI</vt:lpstr>
      <vt:lpstr>Raleway</vt:lpstr>
      <vt:lpstr>Poppins Black</vt:lpstr>
      <vt:lpstr>Anaheim</vt:lpstr>
      <vt:lpstr>Poppins</vt:lpstr>
      <vt:lpstr>Wingdings</vt:lpstr>
      <vt:lpstr>Nunito Light</vt:lpstr>
      <vt:lpstr>Data Analytics Strategy Toolkit by Slidesgo</vt:lpstr>
      <vt:lpstr>Employee Lifestyle and Salary Analysis</vt:lpstr>
      <vt:lpstr>Objective: </vt:lpstr>
      <vt:lpstr>TABLE OF CONTENTS</vt:lpstr>
      <vt:lpstr>PowerPoint Presentation</vt:lpstr>
      <vt:lpstr>PowerPoint Presentation</vt:lpstr>
      <vt:lpstr>Does Healthy Eating Affect Salary?</vt:lpstr>
      <vt:lpstr>Distribution of Employee Salaries</vt:lpstr>
      <vt:lpstr>Employee Group Distribution</vt:lpstr>
      <vt:lpstr>High Healthy Eating + Low Salary</vt:lpstr>
      <vt:lpstr>Outlier Case – Salary vs Healthy Eating</vt:lpstr>
      <vt:lpstr>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Lifestyle and Salary Analysis</dc:title>
  <dc:creator>Aman Khan</dc:creator>
  <cp:lastModifiedBy>Microsoft account</cp:lastModifiedBy>
  <cp:revision>15</cp:revision>
  <dcterms:modified xsi:type="dcterms:W3CDTF">2025-05-03T20:32:29Z</dcterms:modified>
</cp:coreProperties>
</file>